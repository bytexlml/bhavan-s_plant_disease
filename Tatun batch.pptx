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Lst>
  <p:sldSz cx="18288000" cy="10287000"/>
  <p:notesSz cx="6858000" cy="9144000"/>
  <p:embeddedFontLst>
    <p:embeddedFont>
      <p:font typeface="Times New Roman Bold" panose="02020803070505020304" pitchFamily="18"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1752600" y="4350628"/>
            <a:ext cx="16229942" cy="1403350"/>
          </a:xfrm>
          <a:prstGeom prst="rect">
            <a:avLst/>
          </a:prstGeom>
        </p:spPr>
        <p:txBody>
          <a:bodyPr lIns="0" tIns="0" rIns="0" bIns="0" rtlCol="0" anchor="t">
            <a:spAutoFit/>
          </a:bodyPr>
          <a:lstStyle/>
          <a:p>
            <a:pPr marL="0" lvl="0" indent="0" algn="ctr">
              <a:lnSpc>
                <a:spcPts val="5599"/>
              </a:lnSpc>
              <a:spcBef>
                <a:spcPct val="0"/>
              </a:spcBef>
            </a:pPr>
            <a:r>
              <a:rPr lang="en-US" sz="3999" b="1" dirty="0">
                <a:solidFill>
                  <a:srgbClr val="000000"/>
                </a:solidFill>
                <a:latin typeface="Times New Roman Bold"/>
                <a:ea typeface="Times New Roman Bold"/>
                <a:cs typeface="Times New Roman Bold"/>
                <a:sym typeface="Times New Roman Bold"/>
              </a:rPr>
              <a:t>AI DRIVEN DETECTION OF PLANT DISEASES AND NUTRIENT DEFICIENCIES USING MACHINE LEARNING</a:t>
            </a:r>
          </a:p>
        </p:txBody>
      </p:sp>
      <p:sp>
        <p:nvSpPr>
          <p:cNvPr id="3" name="AutoShape 3"/>
          <p:cNvSpPr/>
          <p:nvPr/>
        </p:nvSpPr>
        <p:spPr>
          <a:xfrm>
            <a:off x="9158735" y="990600"/>
            <a:ext cx="8114971" cy="0"/>
          </a:xfrm>
          <a:prstGeom prst="line">
            <a:avLst/>
          </a:prstGeom>
          <a:ln w="76200" cap="flat">
            <a:solidFill>
              <a:srgbClr val="0F4662"/>
            </a:solidFill>
            <a:prstDash val="solid"/>
            <a:headEnd type="none" w="sm" len="sm"/>
            <a:tailEnd type="none" w="sm" len="sm"/>
          </a:ln>
        </p:spPr>
        <p:txBody>
          <a:bodyPr/>
          <a:lstStyle/>
          <a:p>
            <a:endParaRPr lang="en-IN"/>
          </a:p>
        </p:txBody>
      </p:sp>
      <p:sp>
        <p:nvSpPr>
          <p:cNvPr id="4" name="AutoShape 4"/>
          <p:cNvSpPr/>
          <p:nvPr/>
        </p:nvSpPr>
        <p:spPr>
          <a:xfrm>
            <a:off x="1043764" y="9296400"/>
            <a:ext cx="8114971" cy="0"/>
          </a:xfrm>
          <a:prstGeom prst="line">
            <a:avLst/>
          </a:prstGeom>
          <a:ln w="76200" cap="flat">
            <a:solidFill>
              <a:srgbClr val="0F4662"/>
            </a:solidFill>
            <a:prstDash val="solid"/>
            <a:headEnd type="none" w="sm" len="sm"/>
            <a:tailEnd type="none" w="sm" len="sm"/>
          </a:ln>
        </p:spPr>
        <p:txBody>
          <a:bodyPr/>
          <a:lstStyle/>
          <a:p>
            <a:endParaRPr lang="en-IN"/>
          </a:p>
        </p:txBody>
      </p:sp>
      <p:sp>
        <p:nvSpPr>
          <p:cNvPr id="5" name="Freeform 5"/>
          <p:cNvSpPr/>
          <p:nvPr/>
        </p:nvSpPr>
        <p:spPr>
          <a:xfrm>
            <a:off x="9618706" y="90374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TextBox 6"/>
          <p:cNvSpPr txBox="1"/>
          <p:nvPr/>
        </p:nvSpPr>
        <p:spPr>
          <a:xfrm>
            <a:off x="2737539" y="1249509"/>
            <a:ext cx="12812922" cy="2483821"/>
          </a:xfrm>
          <a:prstGeom prst="rect">
            <a:avLst/>
          </a:prstGeom>
        </p:spPr>
        <p:txBody>
          <a:bodyPr lIns="0" tIns="0" rIns="0" bIns="0" rtlCol="0" anchor="t">
            <a:spAutoFit/>
          </a:bodyPr>
          <a:lstStyle/>
          <a:p>
            <a:pPr algn="ctr">
              <a:lnSpc>
                <a:spcPts val="2800"/>
              </a:lnSpc>
            </a:pPr>
            <a:endParaRPr lang="en-US" sz="2000" dirty="0">
              <a:solidFill>
                <a:srgbClr val="000000"/>
              </a:solidFill>
              <a:latin typeface="Times New Roman"/>
              <a:ea typeface="Times New Roman"/>
              <a:cs typeface="Times New Roman"/>
              <a:sym typeface="Times New Roman"/>
            </a:endParaRPr>
          </a:p>
          <a:p>
            <a:pPr marL="0" lvl="0" indent="0" algn="ctr">
              <a:lnSpc>
                <a:spcPts val="2800"/>
              </a:lnSpc>
              <a:spcBef>
                <a:spcPct val="0"/>
              </a:spcBef>
            </a:pPr>
            <a:r>
              <a:rPr lang="en-US" sz="3200" b="1" dirty="0">
                <a:solidFill>
                  <a:srgbClr val="000000"/>
                </a:solidFill>
                <a:effectLst>
                  <a:outerShdw blurRad="38100" dist="38100" dir="2700000" algn="tl">
                    <a:srgbClr val="000000">
                      <a:alpha val="43137"/>
                    </a:srgbClr>
                  </a:outerShdw>
                </a:effectLst>
                <a:latin typeface="Times New Roman"/>
                <a:ea typeface="Times New Roman"/>
                <a:cs typeface="Times New Roman"/>
                <a:sym typeface="Times New Roman"/>
              </a:rPr>
              <a:t>BHAVAN’S VIVEKANANDA COLLEGE OF SCIENCE, HUMANITIES</a:t>
            </a:r>
          </a:p>
          <a:p>
            <a:pPr marL="0" lvl="0" indent="0" algn="ctr">
              <a:lnSpc>
                <a:spcPts val="2800"/>
              </a:lnSpc>
              <a:spcBef>
                <a:spcPct val="0"/>
              </a:spcBef>
            </a:pPr>
            <a:endParaRPr lang="en-US" sz="3200" b="1" dirty="0">
              <a:solidFill>
                <a:srgbClr val="000000"/>
              </a:solidFill>
              <a:effectLst>
                <a:outerShdw blurRad="38100" dist="38100" dir="2700000" algn="tl">
                  <a:srgbClr val="000000">
                    <a:alpha val="43137"/>
                  </a:srgbClr>
                </a:outerShdw>
              </a:effectLst>
              <a:latin typeface="Times New Roman"/>
              <a:ea typeface="Times New Roman"/>
              <a:cs typeface="Times New Roman"/>
              <a:sym typeface="Times New Roman"/>
            </a:endParaRPr>
          </a:p>
          <a:p>
            <a:pPr marL="0" lvl="0" indent="0" algn="ctr">
              <a:lnSpc>
                <a:spcPts val="2800"/>
              </a:lnSpc>
              <a:spcBef>
                <a:spcPct val="0"/>
              </a:spcBef>
            </a:pPr>
            <a:r>
              <a:rPr lang="en-US" sz="3200" b="1" dirty="0">
                <a:solidFill>
                  <a:srgbClr val="000000"/>
                </a:solidFill>
                <a:effectLst>
                  <a:outerShdw blurRad="38100" dist="38100" dir="2700000" algn="tl">
                    <a:srgbClr val="000000">
                      <a:alpha val="43137"/>
                    </a:srgbClr>
                  </a:outerShdw>
                </a:effectLst>
                <a:latin typeface="Times New Roman"/>
                <a:ea typeface="Times New Roman"/>
                <a:cs typeface="Times New Roman"/>
                <a:sym typeface="Times New Roman"/>
              </a:rPr>
              <a:t> AND COMMERCE, SAINIKPURI, SECUNDERABAD </a:t>
            </a:r>
          </a:p>
          <a:p>
            <a:pPr marL="0" lvl="0" indent="0" algn="ctr">
              <a:lnSpc>
                <a:spcPts val="2800"/>
              </a:lnSpc>
              <a:spcBef>
                <a:spcPct val="0"/>
              </a:spcBef>
            </a:pPr>
            <a:endParaRPr lang="en-US" sz="3200" b="1" dirty="0">
              <a:solidFill>
                <a:srgbClr val="000000"/>
              </a:solidFill>
              <a:effectLst>
                <a:outerShdw blurRad="38100" dist="38100" dir="2700000" algn="tl">
                  <a:srgbClr val="000000">
                    <a:alpha val="43137"/>
                  </a:srgbClr>
                </a:outerShdw>
              </a:effectLst>
              <a:latin typeface="Times New Roman"/>
              <a:ea typeface="Times New Roman"/>
              <a:cs typeface="Times New Roman"/>
              <a:sym typeface="Times New Roman"/>
            </a:endParaRPr>
          </a:p>
          <a:p>
            <a:pPr algn="ctr">
              <a:lnSpc>
                <a:spcPts val="2800"/>
              </a:lnSpc>
              <a:spcBef>
                <a:spcPct val="0"/>
              </a:spcBef>
            </a:pPr>
            <a:r>
              <a:rPr lang="en-US" sz="3200" b="1" dirty="0">
                <a:solidFill>
                  <a:srgbClr val="000000"/>
                </a:solidFill>
                <a:effectLst>
                  <a:outerShdw blurRad="38100" dist="38100" dir="2700000" algn="tl">
                    <a:srgbClr val="000000">
                      <a:alpha val="43137"/>
                    </a:srgbClr>
                  </a:outerShdw>
                </a:effectLst>
                <a:latin typeface="Times New Roman"/>
                <a:ea typeface="Times New Roman"/>
                <a:cs typeface="Times New Roman"/>
                <a:sym typeface="Times New Roman"/>
              </a:rPr>
              <a:t>DEPARTMENT OF MICROBIOLOGY</a:t>
            </a:r>
          </a:p>
          <a:p>
            <a:pPr marL="0" lvl="0" indent="0" algn="ctr">
              <a:lnSpc>
                <a:spcPts val="2800"/>
              </a:lnSpc>
              <a:spcBef>
                <a:spcPct val="0"/>
              </a:spcBef>
            </a:pPr>
            <a:endParaRPr lang="en-US" sz="2000" dirty="0">
              <a:solidFill>
                <a:srgbClr val="000000"/>
              </a:solidFill>
              <a:latin typeface="Times New Roman"/>
              <a:ea typeface="Times New Roman"/>
              <a:cs typeface="Times New Roman"/>
              <a:sym typeface="Times New Roman"/>
            </a:endParaRPr>
          </a:p>
        </p:txBody>
      </p:sp>
      <p:sp>
        <p:nvSpPr>
          <p:cNvPr id="8" name="TextBox 8"/>
          <p:cNvSpPr txBox="1"/>
          <p:nvPr/>
        </p:nvSpPr>
        <p:spPr>
          <a:xfrm>
            <a:off x="3581400" y="6318517"/>
            <a:ext cx="11643643" cy="718145"/>
          </a:xfrm>
          <a:prstGeom prst="rect">
            <a:avLst/>
          </a:prstGeom>
        </p:spPr>
        <p:txBody>
          <a:bodyPr lIns="0" tIns="0" rIns="0" bIns="0" rtlCol="0" anchor="t">
            <a:spAutoFit/>
          </a:bodyPr>
          <a:lstStyle/>
          <a:p>
            <a:pPr marL="0" lvl="0" indent="0" algn="ctr">
              <a:lnSpc>
                <a:spcPts val="2800"/>
              </a:lnSpc>
              <a:spcBef>
                <a:spcPct val="0"/>
              </a:spcBef>
            </a:pPr>
            <a:r>
              <a:rPr lang="en-US" sz="2800" dirty="0">
                <a:solidFill>
                  <a:srgbClr val="000000"/>
                </a:solidFill>
                <a:latin typeface="Times New Roman"/>
                <a:ea typeface="Times New Roman"/>
                <a:cs typeface="Times New Roman"/>
                <a:sym typeface="Times New Roman"/>
              </a:rPr>
              <a:t>G. SATYA TARUN SRIYAMSU, PANJA GOWTHAMI, SAYALI JADHAV, </a:t>
            </a:r>
          </a:p>
          <a:p>
            <a:pPr marL="0" lvl="0" indent="0" algn="ctr">
              <a:lnSpc>
                <a:spcPts val="2800"/>
              </a:lnSpc>
              <a:spcBef>
                <a:spcPct val="0"/>
              </a:spcBef>
            </a:pPr>
            <a:r>
              <a:rPr lang="en-US" sz="2800" dirty="0">
                <a:solidFill>
                  <a:srgbClr val="000000"/>
                </a:solidFill>
                <a:latin typeface="Times New Roman"/>
                <a:ea typeface="Times New Roman"/>
                <a:cs typeface="Times New Roman"/>
                <a:sym typeface="Times New Roman"/>
              </a:rPr>
              <a:t>D. BHAVANI</a:t>
            </a:r>
          </a:p>
        </p:txBody>
      </p:sp>
      <p:sp>
        <p:nvSpPr>
          <p:cNvPr id="9" name="Freeform 9"/>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pic>
        <p:nvPicPr>
          <p:cNvPr id="12" name="Picture 11">
            <a:extLst>
              <a:ext uri="{FF2B5EF4-FFF2-40B4-BE49-F238E27FC236}">
                <a16:creationId xmlns:a16="http://schemas.microsoft.com/office/drawing/2014/main" id="{02BE3186-F2C9-E86B-B1DE-E9162CA153D1}"/>
              </a:ext>
            </a:extLst>
          </p:cNvPr>
          <p:cNvPicPr>
            <a:picLocks noChangeAspect="1"/>
          </p:cNvPicPr>
          <p:nvPr/>
        </p:nvPicPr>
        <p:blipFill>
          <a:blip r:embed="rId4"/>
          <a:stretch>
            <a:fillRect/>
          </a:stretch>
        </p:blipFill>
        <p:spPr>
          <a:xfrm>
            <a:off x="613169" y="840549"/>
            <a:ext cx="1581231" cy="1473276"/>
          </a:xfrm>
          <a:prstGeom prst="rect">
            <a:avLst/>
          </a:prstGeom>
        </p:spPr>
      </p:pic>
      <p:pic>
        <p:nvPicPr>
          <p:cNvPr id="14" name="Picture 13">
            <a:extLst>
              <a:ext uri="{FF2B5EF4-FFF2-40B4-BE49-F238E27FC236}">
                <a16:creationId xmlns:a16="http://schemas.microsoft.com/office/drawing/2014/main" id="{3D9C9B6B-73A1-623B-2AFE-8F2A2D0DF9DC}"/>
              </a:ext>
            </a:extLst>
          </p:cNvPr>
          <p:cNvPicPr>
            <a:picLocks noChangeAspect="1"/>
          </p:cNvPicPr>
          <p:nvPr/>
        </p:nvPicPr>
        <p:blipFill>
          <a:blip r:embed="rId5"/>
          <a:stretch>
            <a:fillRect/>
          </a:stretch>
        </p:blipFill>
        <p:spPr>
          <a:xfrm>
            <a:off x="13222173" y="6947170"/>
            <a:ext cx="4227627" cy="33679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4099486"/>
            <a:chOff x="0" y="0"/>
            <a:chExt cx="4816593" cy="1079700"/>
          </a:xfrm>
        </p:grpSpPr>
        <p:sp>
          <p:nvSpPr>
            <p:cNvPr id="3" name="Freeform 3"/>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IN"/>
            </a:p>
          </p:txBody>
        </p:sp>
        <p:sp>
          <p:nvSpPr>
            <p:cNvPr id="4" name="TextBox 4"/>
            <p:cNvSpPr txBox="1"/>
            <p:nvPr/>
          </p:nvSpPr>
          <p:spPr>
            <a:xfrm>
              <a:off x="0" y="-66675"/>
              <a:ext cx="4816593" cy="1146375"/>
            </a:xfrm>
            <a:prstGeom prst="rect">
              <a:avLst/>
            </a:prstGeom>
          </p:spPr>
          <p:txBody>
            <a:bodyPr lIns="50800" tIns="50800" rIns="50800" bIns="50800" rtlCol="0" anchor="ctr"/>
            <a:lstStyle/>
            <a:p>
              <a:pPr algn="ctr">
                <a:lnSpc>
                  <a:spcPts val="3693"/>
                </a:lnSpc>
              </a:pPr>
              <a:endParaRPr/>
            </a:p>
          </p:txBody>
        </p:sp>
      </p:grpSp>
      <p:sp>
        <p:nvSpPr>
          <p:cNvPr id="5" name="TextBox 5"/>
          <p:cNvSpPr txBox="1"/>
          <p:nvPr/>
        </p:nvSpPr>
        <p:spPr>
          <a:xfrm>
            <a:off x="7656935" y="413128"/>
            <a:ext cx="2974129" cy="615950"/>
          </a:xfrm>
          <a:prstGeom prst="rect">
            <a:avLst/>
          </a:prstGeom>
        </p:spPr>
        <p:txBody>
          <a:bodyPr lIns="0" tIns="0" rIns="0" bIns="0" rtlCol="0" anchor="t">
            <a:spAutoFit/>
          </a:bodyPr>
          <a:lstStyle/>
          <a:p>
            <a:pPr marL="0" lvl="0" indent="0" algn="l">
              <a:lnSpc>
                <a:spcPts val="4899"/>
              </a:lnSpc>
              <a:spcBef>
                <a:spcPct val="0"/>
              </a:spcBef>
            </a:pPr>
            <a:r>
              <a:rPr lang="en-US" sz="3499" b="1">
                <a:solidFill>
                  <a:srgbClr val="000000"/>
                </a:solidFill>
                <a:latin typeface="Times New Roman Bold"/>
                <a:ea typeface="Times New Roman Bold"/>
                <a:cs typeface="Times New Roman Bold"/>
                <a:sym typeface="Times New Roman Bold"/>
              </a:rPr>
              <a:t>ABSTRACT</a:t>
            </a:r>
          </a:p>
        </p:txBody>
      </p:sp>
      <p:sp>
        <p:nvSpPr>
          <p:cNvPr id="6" name="TextBox 6"/>
          <p:cNvSpPr txBox="1"/>
          <p:nvPr/>
        </p:nvSpPr>
        <p:spPr>
          <a:xfrm>
            <a:off x="1028700" y="1205585"/>
            <a:ext cx="17030700" cy="10386305"/>
          </a:xfrm>
          <a:prstGeom prst="rect">
            <a:avLst/>
          </a:prstGeom>
        </p:spPr>
        <p:txBody>
          <a:bodyPr wrap="square" lIns="0" tIns="0" rIns="0" bIns="0" rtlCol="0" anchor="t">
            <a:spAutoFit/>
          </a:bodyPr>
          <a:lstStyle/>
          <a:p>
            <a:pPr algn="just">
              <a:lnSpc>
                <a:spcPts val="3740"/>
              </a:lnSpc>
              <a:spcBef>
                <a:spcPct val="0"/>
              </a:spcBef>
            </a:pPr>
            <a:r>
              <a:rPr lang="en-US" sz="3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Since plants are a primary source of human food, plant diseases pose a serious threat to food security by reducing crop yield, slowing plant growth, and causing significant economic losses. These diseases are commonly caused by fungi, bacteria, viruses, and adverse environmental conditions. Using leaves as a medium, we may detect a variety of visual signs as indicators of disease. The project's goal is to develop an AI-based picture categorization system that will transform agricultural disease management and detection. To conduct this project publicly accessible  plant disease and deficiency image datasets were extracted to undergo preprocessing. ML training workflows such as TensorFlow or </a:t>
            </a:r>
            <a:r>
              <a:rPr lang="en-US" sz="32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PyTorch</a:t>
            </a:r>
            <a:r>
              <a:rPr lang="en-US" sz="3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were used to train CNNs or </a:t>
            </a:r>
            <a:r>
              <a:rPr lang="en-US" sz="32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ViTs</a:t>
            </a:r>
            <a:r>
              <a:rPr lang="en-US" sz="3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to classify plant health conditions based on visual features. The data that was utilized for the test  consisted of a set of real-life images obtained from various locations. The model is trained to identify common plant diseases and deficiencies. The obtained results showed confidence rates to prove the efficiency of the model being used. Here we can find that </a:t>
            </a:r>
            <a:r>
              <a:rPr lang="en-US" sz="32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Xception</a:t>
            </a:r>
            <a:r>
              <a:rPr lang="en-US" sz="3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showed the highest success rate with 95.83% accuracy,  </a:t>
            </a:r>
            <a:r>
              <a:rPr lang="en-US" sz="32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ResNet</a:t>
            </a:r>
            <a:r>
              <a:rPr lang="en-US" sz="3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- 50 + SVM with the accuracy rate of 91.2%, VGG- 16 with accuracy of 84%, Inception - </a:t>
            </a:r>
            <a:r>
              <a:rPr lang="en-US" sz="32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ResNet</a:t>
            </a:r>
            <a:r>
              <a:rPr lang="en-US" sz="32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 V2 with an accuracy rate of 83%, BPCNN - 9 with a rate of 82%, DCNN accuracy rate of 78%  respectively.</a:t>
            </a:r>
          </a:p>
          <a:p>
            <a:pPr algn="just">
              <a:lnSpc>
                <a:spcPts val="3740"/>
              </a:lnSpc>
              <a:spcBef>
                <a:spcPct val="0"/>
              </a:spcBef>
            </a:pPr>
            <a:endParaRPr lang="en-US" sz="3200"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just">
              <a:lnSpc>
                <a:spcPts val="3740"/>
              </a:lnSpc>
              <a:spcBef>
                <a:spcPct val="0"/>
              </a:spcBef>
            </a:pPr>
            <a:r>
              <a:rPr lang="en-US" sz="28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Keywords: AI-based plant disease detection, Leaf image classification, Convolutional Neural Networks (CNNs), Vision Transformers (</a:t>
            </a:r>
            <a:r>
              <a:rPr lang="en-US" sz="28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ViTs</a:t>
            </a:r>
            <a:r>
              <a:rPr lang="en-US" sz="28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Transfer learning (</a:t>
            </a:r>
            <a:r>
              <a:rPr lang="en-US" sz="28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Xception</a:t>
            </a:r>
            <a:r>
              <a:rPr lang="en-US" sz="28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Accuracy evaluation</a:t>
            </a:r>
          </a:p>
          <a:p>
            <a:pPr algn="just">
              <a:lnSpc>
                <a:spcPts val="3740"/>
              </a:lnSpc>
              <a:spcBef>
                <a:spcPct val="0"/>
              </a:spcBef>
            </a:pPr>
            <a:endParaRPr lang="en-US" sz="2200" b="1" dirty="0">
              <a:solidFill>
                <a:srgbClr val="000000"/>
              </a:solidFill>
              <a:latin typeface="Times New Roman Bold"/>
              <a:ea typeface="Times New Roman Bold"/>
              <a:cs typeface="Times New Roman Bold"/>
              <a:sym typeface="Times New Roman Bold"/>
            </a:endParaRPr>
          </a:p>
          <a:p>
            <a:pPr algn="just">
              <a:lnSpc>
                <a:spcPts val="3740"/>
              </a:lnSpc>
              <a:spcBef>
                <a:spcPct val="0"/>
              </a:spcBef>
            </a:pPr>
            <a:endParaRPr lang="en-US" sz="2200" b="1" dirty="0">
              <a:solidFill>
                <a:srgbClr val="000000"/>
              </a:solidFill>
              <a:latin typeface="Times New Roman Bold"/>
              <a:ea typeface="Times New Roman Bold"/>
              <a:cs typeface="Times New Roman Bold"/>
              <a:sym typeface="Times New Roman Bold"/>
            </a:endParaRPr>
          </a:p>
          <a:p>
            <a:pPr algn="just">
              <a:lnSpc>
                <a:spcPts val="3740"/>
              </a:lnSpc>
              <a:spcBef>
                <a:spcPct val="0"/>
              </a:spcBef>
            </a:pPr>
            <a:endParaRPr lang="en-US" sz="2200" b="1" dirty="0">
              <a:solidFill>
                <a:srgbClr val="000000"/>
              </a:solidFill>
              <a:latin typeface="Times New Roman Bold"/>
              <a:ea typeface="Times New Roman Bold"/>
              <a:cs typeface="Times New Roman Bold"/>
              <a:sym typeface="Times New Roman Bold"/>
            </a:endParaRPr>
          </a:p>
          <a:p>
            <a:pPr algn="just">
              <a:lnSpc>
                <a:spcPts val="3740"/>
              </a:lnSpc>
              <a:spcBef>
                <a:spcPct val="0"/>
              </a:spcBef>
            </a:pPr>
            <a:endParaRPr lang="en-US" sz="2200" b="1" dirty="0">
              <a:solidFill>
                <a:srgbClr val="000000"/>
              </a:solidFill>
              <a:latin typeface="Times New Roman Bold"/>
              <a:ea typeface="Times New Roman Bold"/>
              <a:cs typeface="Times New Roman Bold"/>
              <a:sym typeface="Times New Roman Bold"/>
            </a:endParaRPr>
          </a:p>
          <a:p>
            <a:pPr algn="just">
              <a:lnSpc>
                <a:spcPts val="3740"/>
              </a:lnSpc>
              <a:spcBef>
                <a:spcPct val="0"/>
              </a:spcBef>
            </a:pPr>
            <a:endParaRPr lang="en-US" sz="2200" b="1" dirty="0">
              <a:solidFill>
                <a:srgbClr val="000000"/>
              </a:solidFill>
              <a:latin typeface="Times New Roman Bold"/>
              <a:ea typeface="Times New Roman Bold"/>
              <a:cs typeface="Times New Roman Bold"/>
              <a:sym typeface="Times New Roman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AutoShape 2"/>
          <p:cNvSpPr/>
          <p:nvPr/>
        </p:nvSpPr>
        <p:spPr>
          <a:xfrm>
            <a:off x="5897880" y="9258300"/>
            <a:ext cx="6492240" cy="0"/>
          </a:xfrm>
          <a:prstGeom prst="line">
            <a:avLst/>
          </a:prstGeom>
          <a:ln w="76200" cap="flat">
            <a:solidFill>
              <a:srgbClr val="0F4662"/>
            </a:solidFill>
            <a:prstDash val="solid"/>
            <a:headEnd type="none" w="sm" len="sm"/>
            <a:tailEnd type="none" w="sm" len="sm"/>
          </a:ln>
        </p:spPr>
        <p:txBody>
          <a:bodyPr/>
          <a:lstStyle/>
          <a:p>
            <a:endParaRPr lang="en-IN"/>
          </a:p>
        </p:txBody>
      </p:sp>
      <p:sp>
        <p:nvSpPr>
          <p:cNvPr id="3" name="Freeform 3"/>
          <p:cNvSpPr/>
          <p:nvPr/>
        </p:nvSpPr>
        <p:spPr>
          <a:xfrm>
            <a:off x="8304001" y="968713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457200" y="1562100"/>
            <a:ext cx="16459200" cy="6309420"/>
          </a:xfrm>
          <a:prstGeom prst="rect">
            <a:avLst/>
          </a:prstGeom>
        </p:spPr>
        <p:txBody>
          <a:bodyPr wrap="square" lIns="0" tIns="0" rIns="0" bIns="0" rtlCol="0" anchor="t">
            <a:spAutoFit/>
          </a:bodyPr>
          <a:lstStyle/>
          <a:p>
            <a:pPr marL="518160" lvl="1" indent="-259080" algn="just">
              <a:lnSpc>
                <a:spcPts val="4079"/>
              </a:lnSpc>
              <a:buFont typeface="Arial"/>
              <a:buChar char="•"/>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Food is vital to our livelihoods. On average, over the last few decades, approximately 40% of the world’s population has been employed in fields related to agriculture. (Serin, J., Jerith, G., Ebenezer, V., Jeyaraj, K., </a:t>
            </a:r>
            <a:r>
              <a:rPr lang="en-US" sz="36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Jenefa</a:t>
            </a: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A., &amp; Vargheese, M. et al., 2025)</a:t>
            </a:r>
          </a:p>
          <a:p>
            <a:pPr marL="518160" lvl="1" indent="-259080" algn="just">
              <a:lnSpc>
                <a:spcPts val="4079"/>
              </a:lnSpc>
              <a:buFont typeface="Arial"/>
              <a:buChar char="•"/>
            </a:pPr>
            <a:endPar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marL="518160" lvl="1" indent="-259080" algn="just">
              <a:lnSpc>
                <a:spcPts val="4079"/>
              </a:lnSpc>
              <a:buFont typeface="Arial"/>
              <a:buChar char="•"/>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India’s agricultural sector faces persistent challenges due to the prevalence of plant diseases, which severely impact crop quality and productivity, exacerbating the ongoing food supply crisis. (Piska, G., </a:t>
            </a:r>
            <a:r>
              <a:rPr lang="en-US" sz="36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Janaskar</a:t>
            </a: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S., </a:t>
            </a:r>
            <a:r>
              <a:rPr lang="en-US" sz="36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Chandgadkar</a:t>
            </a: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O., </a:t>
            </a:r>
            <a:r>
              <a:rPr lang="en-US" sz="3600"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Bhawsar</a:t>
            </a: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 P., &amp; Vishwakarma, P. P. et al., 2025)</a:t>
            </a:r>
          </a:p>
          <a:p>
            <a:pPr marL="518160" lvl="1" indent="-259080" algn="just">
              <a:lnSpc>
                <a:spcPts val="4079"/>
              </a:lnSpc>
              <a:buFont typeface="Arial"/>
              <a:buChar char="•"/>
            </a:pPr>
            <a:endPar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marL="518160" lvl="1" indent="-259080" algn="just">
              <a:lnSpc>
                <a:spcPts val="4079"/>
              </a:lnSpc>
              <a:buFont typeface="Arial"/>
              <a:buChar char="•"/>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Plant diseases, resulting from bacterial, fungal and several other sources, adversely influence agricultural productivity and damage the plant morphology. (Ansari, A., Singh, S., &amp; Akhtar, D. N. et al., 2025) </a:t>
            </a:r>
          </a:p>
        </p:txBody>
      </p:sp>
      <p:sp>
        <p:nvSpPr>
          <p:cNvPr id="5" name="TextBox 5"/>
          <p:cNvSpPr txBox="1"/>
          <p:nvPr/>
        </p:nvSpPr>
        <p:spPr>
          <a:xfrm>
            <a:off x="1095837" y="190500"/>
            <a:ext cx="4802043" cy="1198880"/>
          </a:xfrm>
          <a:prstGeom prst="rect">
            <a:avLst/>
          </a:prstGeom>
        </p:spPr>
        <p:txBody>
          <a:bodyPr lIns="0" tIns="0" rIns="0" bIns="0" rtlCol="0" anchor="t">
            <a:spAutoFit/>
          </a:bodyPr>
          <a:lstStyle/>
          <a:p>
            <a:pPr marL="0" lvl="0" indent="0" algn="l">
              <a:lnSpc>
                <a:spcPts val="9519"/>
              </a:lnSpc>
              <a:spcBef>
                <a:spcPct val="0"/>
              </a:spcBef>
            </a:pPr>
            <a:r>
              <a:rPr lang="en-US" sz="6799" b="1">
                <a:solidFill>
                  <a:srgbClr val="000000"/>
                </a:solidFill>
                <a:latin typeface="Times New Roman Bold"/>
                <a:ea typeface="Times New Roman Bold"/>
                <a:cs typeface="Times New Roman Bold"/>
                <a:sym typeface="Times New Roman Bold"/>
              </a:rPr>
              <a:t>Introduction</a:t>
            </a:r>
          </a:p>
        </p:txBody>
      </p:sp>
      <p:pic>
        <p:nvPicPr>
          <p:cNvPr id="7" name="Picture 6">
            <a:extLst>
              <a:ext uri="{FF2B5EF4-FFF2-40B4-BE49-F238E27FC236}">
                <a16:creationId xmlns:a16="http://schemas.microsoft.com/office/drawing/2014/main" id="{5A7B5CDC-BADC-E5E8-0940-2B1650090D69}"/>
              </a:ext>
            </a:extLst>
          </p:cNvPr>
          <p:cNvPicPr>
            <a:picLocks noChangeAspect="1"/>
          </p:cNvPicPr>
          <p:nvPr/>
        </p:nvPicPr>
        <p:blipFill>
          <a:blip r:embed="rId4"/>
          <a:stretch>
            <a:fillRect/>
          </a:stretch>
        </p:blipFill>
        <p:spPr>
          <a:xfrm>
            <a:off x="12573000" y="7277100"/>
            <a:ext cx="5257800" cy="29412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grpSp>
        <p:nvGrpSpPr>
          <p:cNvPr id="2" name="Group 2"/>
          <p:cNvGrpSpPr/>
          <p:nvPr/>
        </p:nvGrpSpPr>
        <p:grpSpPr>
          <a:xfrm>
            <a:off x="14093893" y="15849"/>
            <a:ext cx="4194107" cy="10271151"/>
            <a:chOff x="0" y="0"/>
            <a:chExt cx="1104621" cy="2705159"/>
          </a:xfrm>
        </p:grpSpPr>
        <p:sp>
          <p:nvSpPr>
            <p:cNvPr id="3" name="Freeform 3"/>
            <p:cNvSpPr/>
            <p:nvPr/>
          </p:nvSpPr>
          <p:spPr>
            <a:xfrm>
              <a:off x="0" y="0"/>
              <a:ext cx="1104621" cy="2705159"/>
            </a:xfrm>
            <a:custGeom>
              <a:avLst/>
              <a:gdLst/>
              <a:ahLst/>
              <a:cxnLst/>
              <a:rect l="l" t="t" r="r" b="b"/>
              <a:pathLst>
                <a:path w="1104621" h="2705159">
                  <a:moveTo>
                    <a:pt x="0" y="0"/>
                  </a:moveTo>
                  <a:lnTo>
                    <a:pt x="1104621" y="0"/>
                  </a:lnTo>
                  <a:lnTo>
                    <a:pt x="1104621" y="2705159"/>
                  </a:lnTo>
                  <a:lnTo>
                    <a:pt x="0" y="2705159"/>
                  </a:lnTo>
                  <a:close/>
                </a:path>
              </a:pathLst>
            </a:custGeom>
            <a:solidFill>
              <a:srgbClr val="7994A0"/>
            </a:solidFill>
          </p:spPr>
          <p:txBody>
            <a:bodyPr/>
            <a:lstStyle/>
            <a:p>
              <a:endParaRPr lang="en-IN"/>
            </a:p>
          </p:txBody>
        </p:sp>
        <p:sp>
          <p:nvSpPr>
            <p:cNvPr id="4" name="TextBox 4"/>
            <p:cNvSpPr txBox="1"/>
            <p:nvPr/>
          </p:nvSpPr>
          <p:spPr>
            <a:xfrm>
              <a:off x="0" y="-66675"/>
              <a:ext cx="1104621" cy="2771834"/>
            </a:xfrm>
            <a:prstGeom prst="rect">
              <a:avLst/>
            </a:prstGeom>
          </p:spPr>
          <p:txBody>
            <a:bodyPr lIns="50800" tIns="50800" rIns="50800" bIns="50800" rtlCol="0" anchor="ctr"/>
            <a:lstStyle/>
            <a:p>
              <a:pPr algn="ctr">
                <a:lnSpc>
                  <a:spcPts val="3693"/>
                </a:lnSpc>
              </a:pPr>
              <a:endParaRPr/>
            </a:p>
          </p:txBody>
        </p:sp>
      </p:grpSp>
      <p:sp>
        <p:nvSpPr>
          <p:cNvPr id="5" name="Freeform 5"/>
          <p:cNvSpPr/>
          <p:nvPr/>
        </p:nvSpPr>
        <p:spPr>
          <a:xfrm>
            <a:off x="735743" y="9403100"/>
            <a:ext cx="1905000" cy="283369"/>
          </a:xfrm>
          <a:custGeom>
            <a:avLst/>
            <a:gdLst/>
            <a:ahLst/>
            <a:cxnLst/>
            <a:rect l="l" t="t" r="r" b="b"/>
            <a:pathLst>
              <a:path w="1905000" h="283369">
                <a:moveTo>
                  <a:pt x="0" y="0"/>
                </a:moveTo>
                <a:lnTo>
                  <a:pt x="1905000" y="0"/>
                </a:lnTo>
                <a:lnTo>
                  <a:pt x="1905000" y="283368"/>
                </a:lnTo>
                <a:lnTo>
                  <a:pt x="0" y="2833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aphicFrame>
        <p:nvGraphicFramePr>
          <p:cNvPr id="6" name="Table 6"/>
          <p:cNvGraphicFramePr>
            <a:graphicFrameLocks noGrp="1"/>
          </p:cNvGraphicFramePr>
          <p:nvPr>
            <p:extLst>
              <p:ext uri="{D42A27DB-BD31-4B8C-83A1-F6EECF244321}">
                <p14:modId xmlns:p14="http://schemas.microsoft.com/office/powerpoint/2010/main" val="1426330186"/>
              </p:ext>
            </p:extLst>
          </p:nvPr>
        </p:nvGraphicFramePr>
        <p:xfrm>
          <a:off x="699284" y="3963425"/>
          <a:ext cx="12833671" cy="5723042"/>
        </p:xfrm>
        <a:graphic>
          <a:graphicData uri="http://schemas.openxmlformats.org/drawingml/2006/table">
            <a:tbl>
              <a:tblPr/>
              <a:tblGrid>
                <a:gridCol w="6338628">
                  <a:extLst>
                    <a:ext uri="{9D8B030D-6E8A-4147-A177-3AD203B41FA5}">
                      <a16:colId xmlns:a16="http://schemas.microsoft.com/office/drawing/2014/main" val="20000"/>
                    </a:ext>
                  </a:extLst>
                </a:gridCol>
                <a:gridCol w="6495043">
                  <a:extLst>
                    <a:ext uri="{9D8B030D-6E8A-4147-A177-3AD203B41FA5}">
                      <a16:colId xmlns:a16="http://schemas.microsoft.com/office/drawing/2014/main" val="20001"/>
                    </a:ext>
                  </a:extLst>
                </a:gridCol>
              </a:tblGrid>
              <a:tr h="1111371">
                <a:tc>
                  <a:txBody>
                    <a:bodyPr/>
                    <a:lstStyle/>
                    <a:p>
                      <a:pPr algn="ctr">
                        <a:lnSpc>
                          <a:spcPts val="2799"/>
                        </a:lnSpc>
                        <a:defRPr/>
                      </a:pPr>
                      <a:r>
                        <a:rPr lang="en-US" sz="1999" b="1" dirty="0">
                          <a:solidFill>
                            <a:srgbClr val="000000"/>
                          </a:solidFill>
                          <a:latin typeface="Times New Roman Bold"/>
                          <a:ea typeface="Times New Roman Bold"/>
                          <a:cs typeface="Times New Roman Bold"/>
                          <a:sym typeface="Times New Roman Bold"/>
                        </a:rPr>
                        <a:t>AUTHORS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b="1" dirty="0">
                          <a:solidFill>
                            <a:srgbClr val="000000"/>
                          </a:solidFill>
                          <a:latin typeface="Times New Roman Bold"/>
                          <a:ea typeface="Times New Roman Bold"/>
                          <a:cs typeface="Times New Roman Bold"/>
                          <a:sym typeface="Times New Roman Bold"/>
                        </a:rPr>
                        <a:t>RESEARCH GAP </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94464">
                <a:tc>
                  <a:txBody>
                    <a:bodyPr/>
                    <a:lstStyle/>
                    <a:p>
                      <a:pPr algn="ctr">
                        <a:lnSpc>
                          <a:spcPts val="2520"/>
                        </a:lnSpc>
                        <a:defRPr/>
                      </a:pPr>
                      <a:r>
                        <a:rPr lang="en-US" sz="1800" b="1">
                          <a:solidFill>
                            <a:srgbClr val="000000"/>
                          </a:solidFill>
                          <a:latin typeface="Times New Roman Bold"/>
                          <a:ea typeface="Times New Roman Bold"/>
                          <a:cs typeface="Times New Roman Bold"/>
                          <a:sym typeface="Times New Roman Bold"/>
                        </a:rPr>
                        <a:t> (Ansari, A., Singh, S., &amp; Akhtar, D. N. et al., 2025)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a:solidFill>
                            <a:srgbClr val="000000"/>
                          </a:solidFill>
                          <a:latin typeface="Times New Roman Bold"/>
                          <a:ea typeface="Times New Roman Bold"/>
                          <a:cs typeface="Times New Roman Bold"/>
                          <a:sym typeface="Times New Roman Bold"/>
                        </a:rPr>
                        <a:t>Absence of detailed and precise classification of the results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79983">
                <a:tc>
                  <a:txBody>
                    <a:bodyPr/>
                    <a:lstStyle/>
                    <a:p>
                      <a:pPr algn="ctr">
                        <a:lnSpc>
                          <a:spcPts val="2519"/>
                        </a:lnSpc>
                        <a:defRPr/>
                      </a:pPr>
                      <a:r>
                        <a:rPr lang="en-US" sz="1799" b="1">
                          <a:solidFill>
                            <a:srgbClr val="000000"/>
                          </a:solidFill>
                          <a:latin typeface="Times New Roman Bold"/>
                          <a:ea typeface="Times New Roman Bold"/>
                          <a:cs typeface="Times New Roman Bold"/>
                          <a:sym typeface="Times New Roman Bold"/>
                        </a:rPr>
                        <a:t>(Nazir, A. et al.,2022)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519"/>
                        </a:lnSpc>
                        <a:defRPr/>
                      </a:pPr>
                      <a:r>
                        <a:rPr lang="en-US" sz="1799" b="1">
                          <a:solidFill>
                            <a:srgbClr val="000000"/>
                          </a:solidFill>
                          <a:latin typeface="Times New Roman Bold"/>
                          <a:ea typeface="Times New Roman Bold"/>
                          <a:cs typeface="Times New Roman Bold"/>
                          <a:sym typeface="Times New Roman Bold"/>
                        </a:rPr>
                        <a:t>Most reviewed approaches rely heavily on PlantVillage-style datasets and lack real-field validation, nutrient deficiency focus, and explainable scientific outputs for practical use.”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37224">
                <a:tc>
                  <a:txBody>
                    <a:bodyPr/>
                    <a:lstStyle/>
                    <a:p>
                      <a:pPr algn="ctr">
                        <a:lnSpc>
                          <a:spcPts val="2520"/>
                        </a:lnSpc>
                        <a:defRPr/>
                      </a:pPr>
                      <a:r>
                        <a:rPr lang="en-US" sz="1800" b="1">
                          <a:solidFill>
                            <a:srgbClr val="000000"/>
                          </a:solidFill>
                          <a:latin typeface="Times New Roman Bold"/>
                          <a:ea typeface="Times New Roman Bold"/>
                          <a:cs typeface="Times New Roman Bold"/>
                          <a:sym typeface="Times New Roman Bold"/>
                        </a:rPr>
                        <a:t>(Serin, J., Jerith, G. G., Ebenezer, V., Jeyaraj, K. A., Jenefa, A., &amp; Vargheese, M. et al.,2026).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dirty="0">
                          <a:solidFill>
                            <a:srgbClr val="000000"/>
                          </a:solidFill>
                          <a:latin typeface="Times New Roman Bold"/>
                          <a:ea typeface="Times New Roman Bold"/>
                          <a:cs typeface="Times New Roman Bold"/>
                          <a:sym typeface="Times New Roman Bold"/>
                        </a:rPr>
                        <a:t>Current systems do not use true multimodal fusion of leaf images and real-time soil sensor data for improved nutrient deficiency prediction.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198393"/>
            <a:ext cx="2291663" cy="1123315"/>
          </a:xfrm>
          <a:prstGeom prst="rect">
            <a:avLst/>
          </a:prstGeom>
        </p:spPr>
        <p:txBody>
          <a:bodyPr lIns="0" tIns="0" rIns="0" bIns="0" rtlCol="0" anchor="t">
            <a:spAutoFit/>
          </a:bodyPr>
          <a:lstStyle/>
          <a:p>
            <a:pPr marL="0" lvl="0" indent="0" algn="l">
              <a:lnSpc>
                <a:spcPts val="8959"/>
              </a:lnSpc>
              <a:spcBef>
                <a:spcPct val="0"/>
              </a:spcBef>
            </a:pPr>
            <a:r>
              <a:rPr lang="en-US" sz="6399" b="1">
                <a:solidFill>
                  <a:srgbClr val="000000"/>
                </a:solidFill>
                <a:latin typeface="Times New Roman Bold"/>
                <a:ea typeface="Times New Roman Bold"/>
                <a:cs typeface="Times New Roman Bold"/>
                <a:sym typeface="Times New Roman Bold"/>
              </a:rPr>
              <a:t>Aim </a:t>
            </a:r>
          </a:p>
        </p:txBody>
      </p:sp>
      <p:sp>
        <p:nvSpPr>
          <p:cNvPr id="8" name="TextBox 8"/>
          <p:cNvSpPr txBox="1"/>
          <p:nvPr/>
        </p:nvSpPr>
        <p:spPr>
          <a:xfrm>
            <a:off x="1028700" y="1197883"/>
            <a:ext cx="12504256" cy="2043829"/>
          </a:xfrm>
          <a:prstGeom prst="rect">
            <a:avLst/>
          </a:prstGeom>
        </p:spPr>
        <p:txBody>
          <a:bodyPr lIns="0" tIns="0" rIns="0" bIns="0" rtlCol="0" anchor="t">
            <a:spAutoFit/>
          </a:bodyPr>
          <a:lstStyle/>
          <a:p>
            <a:pPr marL="259080" lvl="1" algn="just">
              <a:lnSpc>
                <a:spcPts val="4079"/>
              </a:lnSpc>
            </a:pPr>
            <a:r>
              <a:rPr lang="en-US" sz="24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The present project aims to recreate and extend a previously developed AI prototype by building a modern ML-based classification system that analyzes plant images to identify diseases and nutrient deficiencies, providing confidence scores along with simple scientific explanations.</a:t>
            </a:r>
          </a:p>
        </p:txBody>
      </p:sp>
      <p:sp>
        <p:nvSpPr>
          <p:cNvPr id="9" name="TextBox 9"/>
          <p:cNvSpPr txBox="1"/>
          <p:nvPr/>
        </p:nvSpPr>
        <p:spPr>
          <a:xfrm>
            <a:off x="1028700" y="2840111"/>
            <a:ext cx="8724900" cy="1009892"/>
          </a:xfrm>
          <a:prstGeom prst="rect">
            <a:avLst/>
          </a:prstGeom>
        </p:spPr>
        <p:txBody>
          <a:bodyPr wrap="square" lIns="0" tIns="0" rIns="0" bIns="0" rtlCol="0" anchor="t">
            <a:spAutoFit/>
          </a:bodyPr>
          <a:lstStyle/>
          <a:p>
            <a:pPr marL="0" lvl="0" indent="0" algn="l">
              <a:lnSpc>
                <a:spcPts val="8959"/>
              </a:lnSpc>
              <a:spcBef>
                <a:spcPct val="0"/>
              </a:spcBef>
            </a:pPr>
            <a:r>
              <a:rPr lang="en-US" sz="4800" b="1" dirty="0">
                <a:solidFill>
                  <a:srgbClr val="000000"/>
                </a:solidFill>
                <a:latin typeface="Times New Roman Bold"/>
                <a:ea typeface="Times New Roman Bold"/>
                <a:cs typeface="Times New Roman Bold"/>
                <a:sym typeface="Times New Roman Bold"/>
              </a:rPr>
              <a:t>Review of Literature</a:t>
            </a:r>
          </a:p>
        </p:txBody>
      </p:sp>
      <p:pic>
        <p:nvPicPr>
          <p:cNvPr id="11" name="Picture 10">
            <a:extLst>
              <a:ext uri="{FF2B5EF4-FFF2-40B4-BE49-F238E27FC236}">
                <a16:creationId xmlns:a16="http://schemas.microsoft.com/office/drawing/2014/main" id="{F52FE8CD-16FC-F06B-5CE2-9067EA71D84B}"/>
              </a:ext>
            </a:extLst>
          </p:cNvPr>
          <p:cNvPicPr>
            <a:picLocks noChangeAspect="1"/>
          </p:cNvPicPr>
          <p:nvPr/>
        </p:nvPicPr>
        <p:blipFill>
          <a:blip r:embed="rId4"/>
          <a:stretch>
            <a:fillRect/>
          </a:stretch>
        </p:blipFill>
        <p:spPr>
          <a:xfrm>
            <a:off x="14093892" y="2247900"/>
            <a:ext cx="4194108" cy="5105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6920233" y="402251"/>
            <a:ext cx="5491658" cy="1123315"/>
          </a:xfrm>
          <a:prstGeom prst="rect">
            <a:avLst/>
          </a:prstGeom>
        </p:spPr>
        <p:txBody>
          <a:bodyPr lIns="0" tIns="0" rIns="0" bIns="0" rtlCol="0" anchor="t">
            <a:spAutoFit/>
          </a:bodyPr>
          <a:lstStyle/>
          <a:p>
            <a:pPr marL="0" lvl="0" indent="0" algn="l">
              <a:lnSpc>
                <a:spcPts val="8959"/>
              </a:lnSpc>
              <a:spcBef>
                <a:spcPct val="0"/>
              </a:spcBef>
            </a:pPr>
            <a:r>
              <a:rPr lang="en-US" sz="6399" b="1" dirty="0">
                <a:solidFill>
                  <a:srgbClr val="000000"/>
                </a:solidFill>
                <a:latin typeface="Times New Roman Bold"/>
                <a:ea typeface="Times New Roman Bold"/>
                <a:cs typeface="Times New Roman Bold"/>
                <a:sym typeface="Times New Roman Bold"/>
              </a:rPr>
              <a:t>Objectives</a:t>
            </a:r>
          </a:p>
        </p:txBody>
      </p:sp>
      <p:sp>
        <p:nvSpPr>
          <p:cNvPr id="5" name="TextBox 5"/>
          <p:cNvSpPr txBox="1"/>
          <p:nvPr/>
        </p:nvSpPr>
        <p:spPr>
          <a:xfrm>
            <a:off x="1338943" y="2549665"/>
            <a:ext cx="15887700" cy="6836039"/>
          </a:xfrm>
          <a:prstGeom prst="rect">
            <a:avLst/>
          </a:prstGeom>
        </p:spPr>
        <p:txBody>
          <a:bodyPr wrap="square" lIns="0" tIns="0" rIns="0" bIns="0" rtlCol="0" anchor="t">
            <a:spAutoFit/>
          </a:bodyPr>
          <a:lstStyle/>
          <a:p>
            <a:pPr marL="518160" lvl="1" indent="-259080" algn="just">
              <a:lnSpc>
                <a:spcPts val="4079"/>
              </a:lnSpc>
              <a:buFont typeface="Arial"/>
              <a:buChar char="•"/>
            </a:pPr>
            <a:r>
              <a:rPr lang="en-US" sz="4400" b="1" dirty="0">
                <a:solidFill>
                  <a:srgbClr val="000000"/>
                </a:solidFill>
                <a:latin typeface="Times New Roman Bold"/>
                <a:ea typeface="Times New Roman Bold"/>
                <a:cs typeface="Times New Roman Bold"/>
                <a:sym typeface="Times New Roman Bold"/>
              </a:rPr>
              <a:t>Use ML and AI frameworks to train a model for classifying plant diseases and nutrient deficiencies. </a:t>
            </a:r>
          </a:p>
          <a:p>
            <a:pPr marL="518160" lvl="1" indent="-259080" algn="just">
              <a:lnSpc>
                <a:spcPts val="4079"/>
              </a:lnSpc>
              <a:buFont typeface="Arial"/>
              <a:buChar char="•"/>
            </a:pPr>
            <a:endParaRPr lang="en-US" sz="4400" b="1" dirty="0">
              <a:solidFill>
                <a:srgbClr val="000000"/>
              </a:solidFill>
              <a:latin typeface="Times New Roman Bold"/>
              <a:ea typeface="Times New Roman Bold"/>
              <a:cs typeface="Times New Roman Bold"/>
              <a:sym typeface="Times New Roman Bold"/>
            </a:endParaRPr>
          </a:p>
          <a:p>
            <a:pPr marL="518160" lvl="1" indent="-259080" algn="just">
              <a:lnSpc>
                <a:spcPts val="4079"/>
              </a:lnSpc>
              <a:buFont typeface="Arial"/>
              <a:buChar char="•"/>
            </a:pPr>
            <a:r>
              <a:rPr lang="en-US" sz="4400" b="1" dirty="0">
                <a:solidFill>
                  <a:srgbClr val="000000"/>
                </a:solidFill>
                <a:latin typeface="Times New Roman Bold"/>
                <a:ea typeface="Times New Roman Bold"/>
                <a:cs typeface="Times New Roman Bold"/>
                <a:sym typeface="Times New Roman Bold"/>
              </a:rPr>
              <a:t> Build a dataset of plant images representing various conditions.</a:t>
            </a:r>
          </a:p>
          <a:p>
            <a:pPr marL="518160" lvl="1" indent="-259080" algn="just">
              <a:lnSpc>
                <a:spcPts val="4079"/>
              </a:lnSpc>
              <a:buFont typeface="Arial"/>
              <a:buChar char="•"/>
            </a:pPr>
            <a:endParaRPr lang="en-US" sz="4400" b="1" dirty="0">
              <a:solidFill>
                <a:srgbClr val="000000"/>
              </a:solidFill>
              <a:latin typeface="Times New Roman Bold"/>
              <a:ea typeface="Times New Roman Bold"/>
              <a:cs typeface="Times New Roman Bold"/>
              <a:sym typeface="Times New Roman Bold"/>
            </a:endParaRPr>
          </a:p>
          <a:p>
            <a:pPr marL="518160" lvl="1" indent="-259080" algn="just">
              <a:lnSpc>
                <a:spcPts val="4079"/>
              </a:lnSpc>
              <a:buFont typeface="Arial"/>
              <a:buChar char="•"/>
            </a:pPr>
            <a:r>
              <a:rPr lang="en-US" sz="4400" b="1" dirty="0">
                <a:solidFill>
                  <a:srgbClr val="000000"/>
                </a:solidFill>
                <a:latin typeface="Times New Roman Bold"/>
                <a:ea typeface="Times New Roman Bold"/>
                <a:cs typeface="Times New Roman Bold"/>
                <a:sym typeface="Times New Roman Bold"/>
              </a:rPr>
              <a:t>Train, validate, and test ML models such as Convolutional Neural Networks or Vision Transformers. </a:t>
            </a:r>
          </a:p>
          <a:p>
            <a:pPr marL="518160" lvl="1" indent="-259080" algn="just">
              <a:lnSpc>
                <a:spcPts val="4079"/>
              </a:lnSpc>
              <a:buFont typeface="Arial"/>
              <a:buChar char="•"/>
            </a:pPr>
            <a:endParaRPr lang="en-US" sz="4400" b="1" dirty="0">
              <a:solidFill>
                <a:srgbClr val="000000"/>
              </a:solidFill>
              <a:latin typeface="Times New Roman Bold"/>
              <a:ea typeface="Times New Roman Bold"/>
              <a:cs typeface="Times New Roman Bold"/>
              <a:sym typeface="Times New Roman Bold"/>
            </a:endParaRPr>
          </a:p>
          <a:p>
            <a:pPr marL="518160" lvl="1" indent="-259080" algn="just">
              <a:lnSpc>
                <a:spcPts val="4079"/>
              </a:lnSpc>
              <a:buFont typeface="Arial"/>
              <a:buChar char="•"/>
            </a:pPr>
            <a:r>
              <a:rPr lang="en-US" sz="4400" b="1" dirty="0">
                <a:solidFill>
                  <a:srgbClr val="000000"/>
                </a:solidFill>
                <a:latin typeface="Times New Roman Bold"/>
                <a:ea typeface="Times New Roman Bold"/>
                <a:cs typeface="Times New Roman Bold"/>
                <a:sym typeface="Times New Roman Bold"/>
              </a:rPr>
              <a:t> Provide clear, biologically accurate explanations of predicted conditions. </a:t>
            </a:r>
          </a:p>
          <a:p>
            <a:pPr marL="518160" lvl="1" indent="-259080" algn="just">
              <a:lnSpc>
                <a:spcPts val="4079"/>
              </a:lnSpc>
              <a:buFont typeface="Arial"/>
              <a:buChar char="•"/>
            </a:pPr>
            <a:endParaRPr lang="en-US" sz="4400" b="1" dirty="0">
              <a:solidFill>
                <a:srgbClr val="000000"/>
              </a:solidFill>
              <a:latin typeface="Times New Roman Bold"/>
              <a:ea typeface="Times New Roman Bold"/>
              <a:cs typeface="Times New Roman Bold"/>
              <a:sym typeface="Times New Roman Bold"/>
            </a:endParaRPr>
          </a:p>
          <a:p>
            <a:pPr marL="518160" lvl="1" indent="-259080" algn="just">
              <a:lnSpc>
                <a:spcPts val="4079"/>
              </a:lnSpc>
              <a:buFont typeface="Arial"/>
              <a:buChar char="•"/>
            </a:pPr>
            <a:r>
              <a:rPr lang="en-US" sz="4400" b="1" dirty="0">
                <a:solidFill>
                  <a:srgbClr val="000000"/>
                </a:solidFill>
                <a:latin typeface="Times New Roman Bold"/>
                <a:ea typeface="Times New Roman Bold"/>
                <a:cs typeface="Times New Roman Bold"/>
                <a:sym typeface="Times New Roman Bold"/>
              </a:rPr>
              <a:t> Evaluate the accuracy, reliability, and farmer usefulness of the system.</a:t>
            </a:r>
          </a:p>
        </p:txBody>
      </p:sp>
      <p:sp>
        <p:nvSpPr>
          <p:cNvPr id="6" name="AutoShape 6"/>
          <p:cNvSpPr/>
          <p:nvPr/>
        </p:nvSpPr>
        <p:spPr>
          <a:xfrm>
            <a:off x="5897880" y="8828479"/>
            <a:ext cx="6492240" cy="0"/>
          </a:xfrm>
          <a:prstGeom prst="line">
            <a:avLst/>
          </a:prstGeom>
          <a:ln w="76200" cap="flat">
            <a:solidFill>
              <a:srgbClr val="0F4662"/>
            </a:solidFill>
            <a:prstDash val="solid"/>
            <a:headEnd type="none" w="sm" len="sm"/>
            <a:tailEnd type="none" w="sm" len="sm"/>
          </a:ln>
        </p:spPr>
        <p:txBody>
          <a:bodyPr/>
          <a:lstStyle/>
          <a:p>
            <a:endParaRPr lang="en-IN"/>
          </a:p>
        </p:txBody>
      </p:sp>
      <p:pic>
        <p:nvPicPr>
          <p:cNvPr id="8" name="Picture 7">
            <a:extLst>
              <a:ext uri="{FF2B5EF4-FFF2-40B4-BE49-F238E27FC236}">
                <a16:creationId xmlns:a16="http://schemas.microsoft.com/office/drawing/2014/main" id="{82015D15-F8EC-D7F1-A5C3-EC3F9B36AE3F}"/>
              </a:ext>
            </a:extLst>
          </p:cNvPr>
          <p:cNvPicPr>
            <a:picLocks noChangeAspect="1"/>
          </p:cNvPicPr>
          <p:nvPr/>
        </p:nvPicPr>
        <p:blipFill>
          <a:blip r:embed="rId4"/>
          <a:stretch>
            <a:fillRect/>
          </a:stretch>
        </p:blipFill>
        <p:spPr>
          <a:xfrm>
            <a:off x="13905983" y="-10886"/>
            <a:ext cx="3923073" cy="24165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1028700" y="561609"/>
            <a:ext cx="11534821" cy="1006301"/>
          </a:xfrm>
          <a:prstGeom prst="rect">
            <a:avLst/>
          </a:prstGeom>
        </p:spPr>
        <p:txBody>
          <a:bodyPr lIns="0" tIns="0" rIns="0" bIns="0" rtlCol="0" anchor="t">
            <a:spAutoFit/>
          </a:bodyPr>
          <a:lstStyle/>
          <a:p>
            <a:pPr marL="0" lvl="0" indent="0" algn="l">
              <a:lnSpc>
                <a:spcPts val="8400"/>
              </a:lnSpc>
              <a:spcBef>
                <a:spcPct val="0"/>
              </a:spcBef>
            </a:pPr>
            <a:r>
              <a:rPr lang="en-US" sz="5400" b="1" dirty="0">
                <a:solidFill>
                  <a:srgbClr val="000000"/>
                </a:solidFill>
                <a:latin typeface="Times New Roman Bold"/>
                <a:ea typeface="Times New Roman Bold"/>
                <a:cs typeface="Times New Roman Bold"/>
                <a:sym typeface="Times New Roman Bold"/>
              </a:rPr>
              <a:t>Materials &amp; Methodology</a:t>
            </a:r>
          </a:p>
        </p:txBody>
      </p:sp>
      <p:sp>
        <p:nvSpPr>
          <p:cNvPr id="3" name="TextBox 3"/>
          <p:cNvSpPr txBox="1"/>
          <p:nvPr/>
        </p:nvSpPr>
        <p:spPr>
          <a:xfrm>
            <a:off x="685800" y="1559337"/>
            <a:ext cx="5926187" cy="415290"/>
          </a:xfrm>
          <a:prstGeom prst="rect">
            <a:avLst/>
          </a:prstGeom>
        </p:spPr>
        <p:txBody>
          <a:bodyPr lIns="0" tIns="0" rIns="0" bIns="0" rtlCol="0" anchor="t">
            <a:spAutoFit/>
          </a:bodyPr>
          <a:lstStyle/>
          <a:p>
            <a:pPr algn="ctr">
              <a:lnSpc>
                <a:spcPts val="3359"/>
              </a:lnSpc>
              <a:spcBef>
                <a:spcPct val="0"/>
              </a:spcBef>
            </a:pPr>
            <a:r>
              <a:rPr lang="en-US" sz="2400" b="1" u="sng" dirty="0">
                <a:solidFill>
                  <a:srgbClr val="000000"/>
                </a:solidFill>
                <a:latin typeface="Times New Roman Bold"/>
                <a:ea typeface="Times New Roman Bold"/>
                <a:cs typeface="Times New Roman Bold"/>
                <a:sym typeface="Times New Roman Bold"/>
              </a:rPr>
              <a:t>Deep Convolutional Neural Network (DCNN)</a:t>
            </a:r>
          </a:p>
        </p:txBody>
      </p:sp>
      <p:sp>
        <p:nvSpPr>
          <p:cNvPr id="4" name="TextBox 4"/>
          <p:cNvSpPr txBox="1"/>
          <p:nvPr/>
        </p:nvSpPr>
        <p:spPr>
          <a:xfrm>
            <a:off x="7408929" y="1572145"/>
            <a:ext cx="5447109" cy="415290"/>
          </a:xfrm>
          <a:prstGeom prst="rect">
            <a:avLst/>
          </a:prstGeom>
        </p:spPr>
        <p:txBody>
          <a:bodyPr lIns="0" tIns="0" rIns="0" bIns="0" rtlCol="0" anchor="t">
            <a:spAutoFit/>
          </a:bodyPr>
          <a:lstStyle/>
          <a:p>
            <a:pPr algn="ctr">
              <a:lnSpc>
                <a:spcPts val="3359"/>
              </a:lnSpc>
              <a:spcBef>
                <a:spcPct val="0"/>
              </a:spcBef>
            </a:pPr>
            <a:r>
              <a:rPr lang="en-US" sz="2400" b="1" u="sng" dirty="0">
                <a:solidFill>
                  <a:srgbClr val="000000"/>
                </a:solidFill>
                <a:latin typeface="Times New Roman Bold"/>
                <a:ea typeface="Times New Roman Bold"/>
                <a:cs typeface="Times New Roman Bold"/>
                <a:sym typeface="Times New Roman Bold"/>
              </a:rPr>
              <a:t>BPCNN-9 (Backpropagation-Based CNN)</a:t>
            </a:r>
          </a:p>
        </p:txBody>
      </p:sp>
      <p:sp>
        <p:nvSpPr>
          <p:cNvPr id="5" name="TextBox 5"/>
          <p:cNvSpPr txBox="1"/>
          <p:nvPr/>
        </p:nvSpPr>
        <p:spPr>
          <a:xfrm>
            <a:off x="14736784" y="1572145"/>
            <a:ext cx="1100584" cy="415290"/>
          </a:xfrm>
          <a:prstGeom prst="rect">
            <a:avLst/>
          </a:prstGeom>
        </p:spPr>
        <p:txBody>
          <a:bodyPr lIns="0" tIns="0" rIns="0" bIns="0" rtlCol="0" anchor="t">
            <a:spAutoFit/>
          </a:bodyPr>
          <a:lstStyle/>
          <a:p>
            <a:pPr algn="ctr">
              <a:lnSpc>
                <a:spcPts val="3359"/>
              </a:lnSpc>
              <a:spcBef>
                <a:spcPct val="0"/>
              </a:spcBef>
            </a:pPr>
            <a:r>
              <a:rPr lang="en-US" sz="2400" b="1" u="sng" dirty="0">
                <a:solidFill>
                  <a:srgbClr val="000000"/>
                </a:solidFill>
                <a:latin typeface="Times New Roman Bold"/>
                <a:ea typeface="Times New Roman Bold"/>
                <a:cs typeface="Times New Roman Bold"/>
                <a:sym typeface="Times New Roman Bold"/>
              </a:rPr>
              <a:t>VGG-16</a:t>
            </a:r>
          </a:p>
        </p:txBody>
      </p:sp>
      <p:sp>
        <p:nvSpPr>
          <p:cNvPr id="6" name="TextBox 6"/>
          <p:cNvSpPr txBox="1"/>
          <p:nvPr/>
        </p:nvSpPr>
        <p:spPr>
          <a:xfrm>
            <a:off x="8115668" y="2764675"/>
            <a:ext cx="4033633" cy="7011407"/>
          </a:xfrm>
          <a:prstGeom prst="rect">
            <a:avLst/>
          </a:prstGeom>
        </p:spPr>
        <p:txBody>
          <a:bodyPr lIns="0" tIns="0" rIns="0" bIns="0" rtlCol="0" anchor="t">
            <a:spAutoFit/>
          </a:bodyPr>
          <a:lstStyle/>
          <a:p>
            <a:pPr algn="ctr">
              <a:lnSpc>
                <a:spcPts val="2957"/>
              </a:lnSpc>
            </a:pPr>
            <a:r>
              <a:rPr lang="en-US" sz="2112" b="1">
                <a:solidFill>
                  <a:srgbClr val="000000"/>
                </a:solidFill>
                <a:latin typeface="Times New Roman Bold"/>
                <a:ea typeface="Times New Roman Bold"/>
                <a:cs typeface="Times New Roman Bold"/>
                <a:sym typeface="Times New Roman Bold"/>
              </a:rPr>
              <a:t>Input (224×224×3)</a:t>
            </a:r>
          </a:p>
          <a:p>
            <a:pPr algn="ctr">
              <a:lnSpc>
                <a:spcPts val="2957"/>
              </a:lnSpc>
            </a:pPr>
            <a:r>
              <a:rPr lang="en-US" sz="2112" b="1">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Conv1 (32, 3×3) + ReLU</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MaxPool (2×2)</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Conv2 (64, 3×3) + ReLU</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MaxPool (2×2)</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Conv3 (128, 3×3) + ReLU</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Flatten</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Dense (128/256) + ReLU + Dropout</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Dense (64) + ReLU</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a:solidFill>
                  <a:srgbClr val="000000"/>
                </a:solidFill>
                <a:latin typeface="Times New Roman Bold"/>
                <a:ea typeface="Times New Roman Bold"/>
                <a:cs typeface="Times New Roman Bold"/>
                <a:sym typeface="Times New Roman Bold"/>
              </a:rPr>
              <a:t>Output (Softmax / Sigmoid)</a:t>
            </a:r>
          </a:p>
        </p:txBody>
      </p:sp>
      <p:sp>
        <p:nvSpPr>
          <p:cNvPr id="7" name="TextBox 7"/>
          <p:cNvSpPr txBox="1"/>
          <p:nvPr/>
        </p:nvSpPr>
        <p:spPr>
          <a:xfrm>
            <a:off x="13683602" y="2095500"/>
            <a:ext cx="3206948" cy="7210425"/>
          </a:xfrm>
          <a:prstGeom prst="rect">
            <a:avLst/>
          </a:prstGeom>
        </p:spPr>
        <p:txBody>
          <a:bodyPr lIns="0" tIns="0" rIns="0" bIns="0" rtlCol="0" anchor="t">
            <a:spAutoFit/>
          </a:bodyPr>
          <a:lstStyle/>
          <a:p>
            <a:pPr algn="ctr">
              <a:lnSpc>
                <a:spcPts val="2100"/>
              </a:lnSpc>
            </a:pPr>
            <a:r>
              <a:rPr lang="en-US" sz="1500" b="1" dirty="0">
                <a:solidFill>
                  <a:srgbClr val="000000"/>
                </a:solidFill>
                <a:latin typeface="Times New Roman Bold"/>
                <a:ea typeface="Times New Roman Bold"/>
                <a:cs typeface="Times New Roman Bold"/>
                <a:sym typeface="Times New Roman Bold"/>
              </a:rPr>
              <a:t>Input (224 × 224 × 3)</a:t>
            </a:r>
          </a:p>
          <a:p>
            <a:pPr algn="ctr">
              <a:lnSpc>
                <a:spcPts val="2100"/>
              </a:lnSpc>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Conv3-64 → Conv3-64</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err="1">
                <a:solidFill>
                  <a:srgbClr val="000000"/>
                </a:solidFill>
                <a:latin typeface="Times New Roman Bold"/>
                <a:ea typeface="Times New Roman Bold"/>
                <a:cs typeface="Times New Roman Bold"/>
                <a:sym typeface="Times New Roman Bold"/>
              </a:rPr>
              <a:t>MaxPool</a:t>
            </a:r>
            <a:r>
              <a:rPr lang="en-US" sz="1500" b="1" dirty="0">
                <a:solidFill>
                  <a:srgbClr val="000000"/>
                </a:solidFill>
                <a:latin typeface="Times New Roman Bold"/>
                <a:ea typeface="Times New Roman Bold"/>
                <a:cs typeface="Times New Roman Bold"/>
                <a:sym typeface="Times New Roman Bold"/>
              </a:rPr>
              <a:t> (2×2)</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Conv3-128 → Conv3-128</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err="1">
                <a:solidFill>
                  <a:srgbClr val="000000"/>
                </a:solidFill>
                <a:latin typeface="Times New Roman Bold"/>
                <a:ea typeface="Times New Roman Bold"/>
                <a:cs typeface="Times New Roman Bold"/>
                <a:sym typeface="Times New Roman Bold"/>
              </a:rPr>
              <a:t>MaxPool</a:t>
            </a:r>
            <a:r>
              <a:rPr lang="en-US" sz="1500" b="1" dirty="0">
                <a:solidFill>
                  <a:srgbClr val="000000"/>
                </a:solidFill>
                <a:latin typeface="Times New Roman Bold"/>
                <a:ea typeface="Times New Roman Bold"/>
                <a:cs typeface="Times New Roman Bold"/>
                <a:sym typeface="Times New Roman Bold"/>
              </a:rPr>
              <a:t> (2×2)</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Conv3-256 → Conv3-256 → Conv3-256</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err="1">
                <a:solidFill>
                  <a:srgbClr val="000000"/>
                </a:solidFill>
                <a:latin typeface="Times New Roman Bold"/>
                <a:ea typeface="Times New Roman Bold"/>
                <a:cs typeface="Times New Roman Bold"/>
                <a:sym typeface="Times New Roman Bold"/>
              </a:rPr>
              <a:t>MaxPool</a:t>
            </a:r>
            <a:r>
              <a:rPr lang="en-US" sz="1500" b="1" dirty="0">
                <a:solidFill>
                  <a:srgbClr val="000000"/>
                </a:solidFill>
                <a:latin typeface="Times New Roman Bold"/>
                <a:ea typeface="Times New Roman Bold"/>
                <a:cs typeface="Times New Roman Bold"/>
                <a:sym typeface="Times New Roman Bold"/>
              </a:rPr>
              <a:t> (2×2)</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Conv3-512 → Conv3-512 → Conv3-512</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err="1">
                <a:solidFill>
                  <a:srgbClr val="000000"/>
                </a:solidFill>
                <a:latin typeface="Times New Roman Bold"/>
                <a:ea typeface="Times New Roman Bold"/>
                <a:cs typeface="Times New Roman Bold"/>
                <a:sym typeface="Times New Roman Bold"/>
              </a:rPr>
              <a:t>MaxPool</a:t>
            </a:r>
            <a:r>
              <a:rPr lang="en-US" sz="1500" b="1" dirty="0">
                <a:solidFill>
                  <a:srgbClr val="000000"/>
                </a:solidFill>
                <a:latin typeface="Times New Roman Bold"/>
                <a:ea typeface="Times New Roman Bold"/>
                <a:cs typeface="Times New Roman Bold"/>
                <a:sym typeface="Times New Roman Bold"/>
              </a:rPr>
              <a:t> (2×2)</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Conv3-512 → Conv3-512 → Conv3-512</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err="1">
                <a:solidFill>
                  <a:srgbClr val="000000"/>
                </a:solidFill>
                <a:latin typeface="Times New Roman Bold"/>
                <a:ea typeface="Times New Roman Bold"/>
                <a:cs typeface="Times New Roman Bold"/>
                <a:sym typeface="Times New Roman Bold"/>
              </a:rPr>
              <a:t>MaxPool</a:t>
            </a:r>
            <a:r>
              <a:rPr lang="en-US" sz="1500" b="1" dirty="0">
                <a:solidFill>
                  <a:srgbClr val="000000"/>
                </a:solidFill>
                <a:latin typeface="Times New Roman Bold"/>
                <a:ea typeface="Times New Roman Bold"/>
                <a:cs typeface="Times New Roman Bold"/>
                <a:sym typeface="Times New Roman Bold"/>
              </a:rPr>
              <a:t> (2×2)</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Flatten</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FC-4096 → FC-4096</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        ↓</a:t>
            </a:r>
          </a:p>
          <a:p>
            <a:pPr algn="ctr">
              <a:lnSpc>
                <a:spcPts val="2100"/>
              </a:lnSpc>
              <a:spcBef>
                <a:spcPct val="0"/>
              </a:spcBef>
            </a:pPr>
            <a:r>
              <a:rPr lang="en-US" sz="1500" b="1" dirty="0">
                <a:solidFill>
                  <a:srgbClr val="000000"/>
                </a:solidFill>
                <a:latin typeface="Times New Roman Bold"/>
                <a:ea typeface="Times New Roman Bold"/>
                <a:cs typeface="Times New Roman Bold"/>
                <a:sym typeface="Times New Roman Bold"/>
              </a:rPr>
              <a:t>Output (</a:t>
            </a:r>
            <a:r>
              <a:rPr lang="en-US" sz="1500" b="1" dirty="0" err="1">
                <a:solidFill>
                  <a:srgbClr val="000000"/>
                </a:solidFill>
                <a:latin typeface="Times New Roman Bold"/>
                <a:ea typeface="Times New Roman Bold"/>
                <a:cs typeface="Times New Roman Bold"/>
                <a:sym typeface="Times New Roman Bold"/>
              </a:rPr>
              <a:t>Softmax</a:t>
            </a:r>
            <a:r>
              <a:rPr lang="en-US" sz="1500" b="1" dirty="0">
                <a:solidFill>
                  <a:srgbClr val="000000"/>
                </a:solidFill>
                <a:latin typeface="Times New Roman Bold"/>
                <a:ea typeface="Times New Roman Bold"/>
                <a:cs typeface="Times New Roman Bold"/>
                <a:sym typeface="Times New Roman Bold"/>
              </a:rPr>
              <a:t>, 1000 classes)</a:t>
            </a:r>
          </a:p>
        </p:txBody>
      </p:sp>
      <p:sp>
        <p:nvSpPr>
          <p:cNvPr id="8" name="TextBox 8"/>
          <p:cNvSpPr txBox="1"/>
          <p:nvPr/>
        </p:nvSpPr>
        <p:spPr>
          <a:xfrm>
            <a:off x="1487248" y="2764675"/>
            <a:ext cx="3929504" cy="5536059"/>
          </a:xfrm>
          <a:prstGeom prst="rect">
            <a:avLst/>
          </a:prstGeom>
        </p:spPr>
        <p:txBody>
          <a:bodyPr lIns="0" tIns="0" rIns="0" bIns="0" rtlCol="0" anchor="t">
            <a:spAutoFit/>
          </a:bodyPr>
          <a:lstStyle/>
          <a:p>
            <a:pPr algn="ctr">
              <a:lnSpc>
                <a:spcPts val="2957"/>
              </a:lnSpc>
            </a:pPr>
            <a:r>
              <a:rPr lang="en-US" sz="2112" b="1" dirty="0">
                <a:solidFill>
                  <a:srgbClr val="000000"/>
                </a:solidFill>
                <a:latin typeface="Times New Roman Bold"/>
                <a:ea typeface="Times New Roman Bold"/>
                <a:cs typeface="Times New Roman Bold"/>
                <a:sym typeface="Times New Roman Bold"/>
              </a:rPr>
              <a:t>Input Image</a:t>
            </a:r>
          </a:p>
          <a:p>
            <a:pPr algn="ctr">
              <a:lnSpc>
                <a:spcPts val="2957"/>
              </a:lnSpc>
            </a:pPr>
            <a:r>
              <a:rPr lang="en-US" sz="2112" b="1" dirty="0">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[Conv → </a:t>
            </a:r>
            <a:r>
              <a:rPr lang="en-US" sz="2112" b="1" dirty="0" err="1">
                <a:solidFill>
                  <a:srgbClr val="000000"/>
                </a:solidFill>
                <a:latin typeface="Times New Roman Bold"/>
                <a:ea typeface="Times New Roman Bold"/>
                <a:cs typeface="Times New Roman Bold"/>
                <a:sym typeface="Times New Roman Bold"/>
              </a:rPr>
              <a:t>ReLU</a:t>
            </a:r>
            <a:r>
              <a:rPr lang="en-US" sz="2112" b="1" dirty="0">
                <a:solidFill>
                  <a:srgbClr val="000000"/>
                </a:solidFill>
                <a:latin typeface="Times New Roman Bold"/>
                <a:ea typeface="Times New Roman Bold"/>
                <a:cs typeface="Times New Roman Bold"/>
                <a:sym typeface="Times New Roman Bold"/>
              </a:rPr>
              <a:t>] × N</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Pooling</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[Conv → </a:t>
            </a:r>
            <a:r>
              <a:rPr lang="en-US" sz="2112" b="1" dirty="0" err="1">
                <a:solidFill>
                  <a:srgbClr val="000000"/>
                </a:solidFill>
                <a:latin typeface="Times New Roman Bold"/>
                <a:ea typeface="Times New Roman Bold"/>
                <a:cs typeface="Times New Roman Bold"/>
                <a:sym typeface="Times New Roman Bold"/>
              </a:rPr>
              <a:t>ReLU</a:t>
            </a:r>
            <a:r>
              <a:rPr lang="en-US" sz="2112" b="1" dirty="0">
                <a:solidFill>
                  <a:srgbClr val="000000"/>
                </a:solidFill>
                <a:latin typeface="Times New Roman Bold"/>
                <a:ea typeface="Times New Roman Bold"/>
                <a:cs typeface="Times New Roman Bold"/>
                <a:sym typeface="Times New Roman Bold"/>
              </a:rPr>
              <a:t>] × N</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Pooling</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Flatten</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Fully Connected (Dense) Layer(s)</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      ↓</a:t>
            </a:r>
          </a:p>
          <a:p>
            <a:pPr algn="ctr">
              <a:lnSpc>
                <a:spcPts val="2957"/>
              </a:lnSpc>
              <a:spcBef>
                <a:spcPct val="0"/>
              </a:spcBef>
            </a:pPr>
            <a:r>
              <a:rPr lang="en-US" sz="2112" b="1" dirty="0">
                <a:solidFill>
                  <a:srgbClr val="000000"/>
                </a:solidFill>
                <a:latin typeface="Times New Roman Bold"/>
                <a:ea typeface="Times New Roman Bold"/>
                <a:cs typeface="Times New Roman Bold"/>
                <a:sym typeface="Times New Roman Bold"/>
              </a:rPr>
              <a:t>Output Layer (</a:t>
            </a:r>
            <a:r>
              <a:rPr lang="en-US" sz="2112" b="1" dirty="0" err="1">
                <a:solidFill>
                  <a:srgbClr val="000000"/>
                </a:solidFill>
                <a:latin typeface="Times New Roman Bold"/>
                <a:ea typeface="Times New Roman Bold"/>
                <a:cs typeface="Times New Roman Bold"/>
                <a:sym typeface="Times New Roman Bold"/>
              </a:rPr>
              <a:t>Softmax</a:t>
            </a:r>
            <a:r>
              <a:rPr lang="en-US" sz="2112" b="1" dirty="0">
                <a:solidFill>
                  <a:srgbClr val="000000"/>
                </a:solidFill>
                <a:latin typeface="Times New Roman Bold"/>
                <a:ea typeface="Times New Roman Bold"/>
                <a:cs typeface="Times New Roman Bold"/>
                <a:sym typeface="Times New Roman Bold"/>
              </a:rPr>
              <a:t> / Sigmoid)</a:t>
            </a:r>
          </a:p>
        </p:txBody>
      </p:sp>
      <p:sp>
        <p:nvSpPr>
          <p:cNvPr id="9" name="AutoShape 9"/>
          <p:cNvSpPr/>
          <p:nvPr/>
        </p:nvSpPr>
        <p:spPr>
          <a:xfrm>
            <a:off x="11490664" y="752109"/>
            <a:ext cx="6492240" cy="0"/>
          </a:xfrm>
          <a:prstGeom prst="line">
            <a:avLst/>
          </a:prstGeom>
          <a:ln w="76200" cap="flat">
            <a:solidFill>
              <a:srgbClr val="0F4662"/>
            </a:solidFill>
            <a:prstDash val="solid"/>
            <a:headEnd type="none" w="sm" len="sm"/>
            <a:tailEnd type="none" w="sm" len="sm"/>
          </a:ln>
        </p:spPr>
        <p:txBody>
          <a:bodyPr/>
          <a:lstStyle/>
          <a:p>
            <a:endParaRPr lang="en-IN"/>
          </a:p>
        </p:txBody>
      </p:sp>
      <p:sp>
        <p:nvSpPr>
          <p:cNvPr id="10" name="AutoShape 10"/>
          <p:cNvSpPr/>
          <p:nvPr/>
        </p:nvSpPr>
        <p:spPr>
          <a:xfrm>
            <a:off x="488907" y="9529459"/>
            <a:ext cx="6492240" cy="0"/>
          </a:xfrm>
          <a:prstGeom prst="line">
            <a:avLst/>
          </a:prstGeom>
          <a:ln w="76200" cap="flat">
            <a:solidFill>
              <a:srgbClr val="0F4662"/>
            </a:solidFill>
            <a:prstDash val="solid"/>
            <a:headEnd type="none" w="sm" len="sm"/>
            <a:tailEnd type="none" w="sm" len="sm"/>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1028700" y="561609"/>
            <a:ext cx="11534821" cy="1066800"/>
          </a:xfrm>
          <a:prstGeom prst="rect">
            <a:avLst/>
          </a:prstGeom>
        </p:spPr>
        <p:txBody>
          <a:bodyPr lIns="0" tIns="0" rIns="0" bIns="0" rtlCol="0" anchor="t">
            <a:spAutoFit/>
          </a:bodyPr>
          <a:lstStyle/>
          <a:p>
            <a:pPr marL="0" lvl="0" indent="0" algn="l">
              <a:lnSpc>
                <a:spcPts val="8400"/>
              </a:lnSpc>
              <a:spcBef>
                <a:spcPct val="0"/>
              </a:spcBef>
            </a:pPr>
            <a:r>
              <a:rPr lang="en-US" sz="6000" b="1">
                <a:solidFill>
                  <a:srgbClr val="000000"/>
                </a:solidFill>
                <a:latin typeface="Times New Roman Bold"/>
                <a:ea typeface="Times New Roman Bold"/>
                <a:cs typeface="Times New Roman Bold"/>
                <a:sym typeface="Times New Roman Bold"/>
              </a:rPr>
              <a:t>Materials &amp; Methodology</a:t>
            </a:r>
          </a:p>
        </p:txBody>
      </p:sp>
      <p:sp>
        <p:nvSpPr>
          <p:cNvPr id="3" name="TextBox 3"/>
          <p:cNvSpPr txBox="1"/>
          <p:nvPr/>
        </p:nvSpPr>
        <p:spPr>
          <a:xfrm>
            <a:off x="2133600" y="1987435"/>
            <a:ext cx="3096195" cy="399148"/>
          </a:xfrm>
          <a:prstGeom prst="rect">
            <a:avLst/>
          </a:prstGeom>
        </p:spPr>
        <p:txBody>
          <a:bodyPr wrap="square" lIns="0" tIns="0" rIns="0" bIns="0" rtlCol="0" anchor="t">
            <a:spAutoFit/>
          </a:bodyPr>
          <a:lstStyle/>
          <a:p>
            <a:pPr algn="ctr">
              <a:lnSpc>
                <a:spcPts val="3359"/>
              </a:lnSpc>
              <a:spcBef>
                <a:spcPct val="0"/>
              </a:spcBef>
            </a:pPr>
            <a:r>
              <a:rPr lang="en-US" sz="2400" b="1" u="sng" dirty="0">
                <a:solidFill>
                  <a:srgbClr val="000000"/>
                </a:solidFill>
                <a:latin typeface="Times New Roman Bold"/>
                <a:ea typeface="Times New Roman Bold"/>
                <a:cs typeface="Times New Roman Bold"/>
                <a:sym typeface="Times New Roman Bold"/>
              </a:rPr>
              <a:t>Inception-ResNet-V2</a:t>
            </a:r>
          </a:p>
        </p:txBody>
      </p:sp>
      <p:sp>
        <p:nvSpPr>
          <p:cNvPr id="4" name="TextBox 4"/>
          <p:cNvSpPr txBox="1"/>
          <p:nvPr/>
        </p:nvSpPr>
        <p:spPr>
          <a:xfrm>
            <a:off x="8153400" y="2003575"/>
            <a:ext cx="1574751" cy="399149"/>
          </a:xfrm>
          <a:prstGeom prst="rect">
            <a:avLst/>
          </a:prstGeom>
        </p:spPr>
        <p:txBody>
          <a:bodyPr wrap="square" lIns="0" tIns="0" rIns="0" bIns="0" rtlCol="0" anchor="t">
            <a:spAutoFit/>
          </a:bodyPr>
          <a:lstStyle/>
          <a:p>
            <a:pPr algn="ctr">
              <a:lnSpc>
                <a:spcPts val="3359"/>
              </a:lnSpc>
              <a:spcBef>
                <a:spcPct val="0"/>
              </a:spcBef>
            </a:pPr>
            <a:r>
              <a:rPr lang="en-US" sz="2400" b="1" u="sng" dirty="0" err="1">
                <a:solidFill>
                  <a:srgbClr val="000000"/>
                </a:solidFill>
                <a:latin typeface="Times New Roman Bold"/>
                <a:ea typeface="Times New Roman Bold"/>
                <a:cs typeface="Times New Roman Bold"/>
                <a:sym typeface="Times New Roman Bold"/>
              </a:rPr>
              <a:t>Xception</a:t>
            </a:r>
            <a:endParaRPr lang="en-US" sz="2400" b="1" u="sng" dirty="0">
              <a:solidFill>
                <a:srgbClr val="000000"/>
              </a:solidFill>
              <a:latin typeface="Times New Roman Bold"/>
              <a:ea typeface="Times New Roman Bold"/>
              <a:cs typeface="Times New Roman Bold"/>
              <a:sym typeface="Times New Roman Bold"/>
            </a:endParaRPr>
          </a:p>
        </p:txBody>
      </p:sp>
      <p:sp>
        <p:nvSpPr>
          <p:cNvPr id="5" name="TextBox 5"/>
          <p:cNvSpPr txBox="1"/>
          <p:nvPr/>
        </p:nvSpPr>
        <p:spPr>
          <a:xfrm>
            <a:off x="11445914" y="1987435"/>
            <a:ext cx="6568569" cy="399148"/>
          </a:xfrm>
          <a:prstGeom prst="rect">
            <a:avLst/>
          </a:prstGeom>
        </p:spPr>
        <p:txBody>
          <a:bodyPr wrap="square" lIns="0" tIns="0" rIns="0" bIns="0" rtlCol="0" anchor="t">
            <a:spAutoFit/>
          </a:bodyPr>
          <a:lstStyle/>
          <a:p>
            <a:pPr algn="ctr">
              <a:lnSpc>
                <a:spcPts val="3359"/>
              </a:lnSpc>
              <a:spcBef>
                <a:spcPct val="0"/>
              </a:spcBef>
            </a:pPr>
            <a:r>
              <a:rPr lang="en-US" sz="2400" b="1" u="sng">
                <a:solidFill>
                  <a:srgbClr val="000000"/>
                </a:solidFill>
                <a:latin typeface="Times New Roman Bold"/>
                <a:ea typeface="Times New Roman Bold"/>
                <a:cs typeface="Times New Roman Bold"/>
                <a:sym typeface="Times New Roman Bold"/>
              </a:rPr>
              <a:t>ResNet-50 with Support Vector Machine (SVM)</a:t>
            </a:r>
          </a:p>
        </p:txBody>
      </p:sp>
      <p:sp>
        <p:nvSpPr>
          <p:cNvPr id="6" name="TextBox 6"/>
          <p:cNvSpPr txBox="1"/>
          <p:nvPr/>
        </p:nvSpPr>
        <p:spPr>
          <a:xfrm>
            <a:off x="12814875" y="2697384"/>
            <a:ext cx="4182368" cy="5444490"/>
          </a:xfrm>
          <a:prstGeom prst="rect">
            <a:avLst/>
          </a:prstGeom>
        </p:spPr>
        <p:txBody>
          <a:bodyPr lIns="0" tIns="0" rIns="0" bIns="0" rtlCol="0" anchor="t">
            <a:spAutoFit/>
          </a:bodyPr>
          <a:lstStyle/>
          <a:p>
            <a:pPr algn="ctr">
              <a:lnSpc>
                <a:spcPts val="3359"/>
              </a:lnSpc>
            </a:pPr>
            <a:r>
              <a:rPr lang="en-US" sz="2400" b="1">
                <a:solidFill>
                  <a:srgbClr val="000000"/>
                </a:solidFill>
                <a:latin typeface="Times New Roman Bold"/>
                <a:ea typeface="Times New Roman Bold"/>
                <a:cs typeface="Times New Roman Bold"/>
                <a:sym typeface="Times New Roman Bold"/>
              </a:rPr>
              <a:t>Input Image (224x224x3)</a:t>
            </a:r>
          </a:p>
          <a:p>
            <a:pPr algn="ctr">
              <a:lnSpc>
                <a:spcPts val="3359"/>
              </a:lnSpc>
            </a:pPr>
            <a:r>
              <a:rPr lang="en-US" sz="2400" b="1">
                <a:solidFill>
                  <a:srgbClr val="000000"/>
                </a:solidFill>
                <a:latin typeface="Times New Roman Bold"/>
                <a:ea typeface="Times New Roman Bold"/>
                <a:cs typeface="Times New Roman Bold"/>
                <a:sym typeface="Times New Roman Bold"/>
              </a:rPr>
              <a:t>        ↓</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ResNet-50 Convolution Layers</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        ↓</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Residual Blocks (50 layers total)</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        ↓</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Global Average Pooling</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        ↓</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2048-D Feature Vector</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        ↓</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SVM Classifier</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        ↓</a:t>
            </a:r>
          </a:p>
          <a:p>
            <a:pPr algn="ctr">
              <a:lnSpc>
                <a:spcPts val="3359"/>
              </a:lnSpc>
              <a:spcBef>
                <a:spcPct val="0"/>
              </a:spcBef>
            </a:pPr>
            <a:r>
              <a:rPr lang="en-US" sz="2400" b="1">
                <a:solidFill>
                  <a:srgbClr val="000000"/>
                </a:solidFill>
                <a:latin typeface="Times New Roman Bold"/>
                <a:ea typeface="Times New Roman Bold"/>
                <a:cs typeface="Times New Roman Bold"/>
                <a:sym typeface="Times New Roman Bold"/>
              </a:rPr>
              <a:t>Final Prediction</a:t>
            </a:r>
          </a:p>
        </p:txBody>
      </p:sp>
      <p:sp>
        <p:nvSpPr>
          <p:cNvPr id="7" name="TextBox 7"/>
          <p:cNvSpPr txBox="1"/>
          <p:nvPr/>
        </p:nvSpPr>
        <p:spPr>
          <a:xfrm>
            <a:off x="6842086" y="2774200"/>
            <a:ext cx="4603828" cy="6914125"/>
          </a:xfrm>
          <a:prstGeom prst="rect">
            <a:avLst/>
          </a:prstGeom>
        </p:spPr>
        <p:txBody>
          <a:bodyPr lIns="0" tIns="0" rIns="0" bIns="0" rtlCol="0" anchor="t">
            <a:spAutoFit/>
          </a:bodyPr>
          <a:lstStyle/>
          <a:p>
            <a:pPr algn="ctr">
              <a:lnSpc>
                <a:spcPts val="2129"/>
              </a:lnSpc>
            </a:pPr>
            <a:r>
              <a:rPr lang="en-US" sz="1520" b="1">
                <a:solidFill>
                  <a:srgbClr val="000000"/>
                </a:solidFill>
                <a:latin typeface="Times New Roman Bold"/>
                <a:ea typeface="Times New Roman Bold"/>
                <a:cs typeface="Times New Roman Bold"/>
                <a:sym typeface="Times New Roman Bold"/>
              </a:rPr>
              <a:t>INPUT (299×299×3)</a:t>
            </a:r>
          </a:p>
          <a:p>
            <a:pPr algn="ctr">
              <a:lnSpc>
                <a:spcPts val="2129"/>
              </a:lnSpc>
            </a:pPr>
            <a:r>
              <a:rPr lang="en-US" sz="1520" b="1">
                <a:solidFill>
                  <a:srgbClr val="000000"/>
                </a:solidFill>
                <a:latin typeface="Times New Roman Bold"/>
                <a:ea typeface="Times New Roman Bold"/>
                <a:cs typeface="Times New Roman Bold"/>
                <a:sym typeface="Times New Roman Bold"/>
              </a:rPr>
              <a:t>   │</a:t>
            </a:r>
          </a:p>
          <a:p>
            <a:pPr algn="ctr">
              <a:lnSpc>
                <a:spcPts val="2129"/>
              </a:lnSpc>
            </a:pPr>
            <a:r>
              <a:rPr lang="en-US" sz="1520" b="1">
                <a:solidFill>
                  <a:srgbClr val="000000"/>
                </a:solidFill>
                <a:latin typeface="Times New Roman Bold"/>
                <a:ea typeface="Times New Roman Bold"/>
                <a:cs typeface="Times New Roman Bold"/>
                <a:sym typeface="Times New Roman Bold"/>
              </a:rPr>
              <a:t>   ▼</a:t>
            </a:r>
          </a:p>
          <a:p>
            <a:pPr algn="ctr">
              <a:lnSpc>
                <a:spcPts val="2129"/>
              </a:lnSpc>
            </a:pPr>
            <a:r>
              <a:rPr lang="en-US" sz="1520" b="1">
                <a:solidFill>
                  <a:srgbClr val="000000"/>
                </a:solidFill>
                <a:latin typeface="Times New Roman Bold"/>
                <a:ea typeface="Times New Roman Bold"/>
                <a:cs typeface="Times New Roman Bold"/>
                <a:sym typeface="Times New Roman Bold"/>
              </a:rPr>
              <a:t>ENTRY FLOW</a:t>
            </a:r>
          </a:p>
          <a:p>
            <a:pPr algn="ctr">
              <a:lnSpc>
                <a:spcPts val="2129"/>
              </a:lnSpc>
            </a:pPr>
            <a:r>
              <a:rPr lang="en-US" sz="1520" b="1">
                <a:solidFill>
                  <a:srgbClr val="000000"/>
                </a:solidFill>
                <a:latin typeface="Times New Roman Bold"/>
                <a:ea typeface="Times New Roman Bold"/>
                <a:cs typeface="Times New Roman Bold"/>
                <a:sym typeface="Times New Roman Bold"/>
              </a:rPr>
              <a:t>  Conv 3×3 (32, s2)</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Conv 3×3 (64)</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3 × [SepConv → SepConv → MaxPool (s2) + Residual]</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MIDDLE FLOW</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8 × [SepConv → SepConv → SepConv + Residual]</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EXIT FLOW</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[SepConv → SepConv → MaxPool (s2) + Residual]</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SepConv (1536)</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SepConv (2048)</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Global Avg Pool</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Fully Connected</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   ▼</a:t>
            </a:r>
          </a:p>
          <a:p>
            <a:pPr algn="ctr">
              <a:lnSpc>
                <a:spcPts val="2129"/>
              </a:lnSpc>
              <a:spcBef>
                <a:spcPct val="0"/>
              </a:spcBef>
            </a:pPr>
            <a:r>
              <a:rPr lang="en-US" sz="1520" b="1">
                <a:solidFill>
                  <a:srgbClr val="000000"/>
                </a:solidFill>
                <a:latin typeface="Times New Roman Bold"/>
                <a:ea typeface="Times New Roman Bold"/>
                <a:cs typeface="Times New Roman Bold"/>
                <a:sym typeface="Times New Roman Bold"/>
              </a:rPr>
              <a:t>Softmax</a:t>
            </a:r>
          </a:p>
        </p:txBody>
      </p:sp>
      <p:sp>
        <p:nvSpPr>
          <p:cNvPr id="8" name="TextBox 8"/>
          <p:cNvSpPr txBox="1"/>
          <p:nvPr/>
        </p:nvSpPr>
        <p:spPr>
          <a:xfrm>
            <a:off x="2544728" y="2614798"/>
            <a:ext cx="2627381" cy="7223404"/>
          </a:xfrm>
          <a:prstGeom prst="rect">
            <a:avLst/>
          </a:prstGeom>
        </p:spPr>
        <p:txBody>
          <a:bodyPr lIns="0" tIns="0" rIns="0" bIns="0" rtlCol="0" anchor="t">
            <a:spAutoFit/>
          </a:bodyPr>
          <a:lstStyle/>
          <a:p>
            <a:pPr algn="ctr">
              <a:lnSpc>
                <a:spcPts val="2754"/>
              </a:lnSpc>
            </a:pPr>
            <a:r>
              <a:rPr lang="en-US" sz="1967" b="1">
                <a:solidFill>
                  <a:srgbClr val="000000"/>
                </a:solidFill>
                <a:latin typeface="Times New Roman Bold"/>
                <a:ea typeface="Times New Roman Bold"/>
                <a:cs typeface="Times New Roman Bold"/>
                <a:sym typeface="Times New Roman Bold"/>
              </a:rPr>
              <a:t>Input (299 × 299 × 3)</a:t>
            </a:r>
          </a:p>
          <a:p>
            <a:pPr algn="ctr">
              <a:lnSpc>
                <a:spcPts val="2754"/>
              </a:lnSpc>
            </a:pPr>
            <a:r>
              <a:rPr lang="en-US" sz="1967" b="1">
                <a:solidFill>
                  <a:srgbClr val="000000"/>
                </a:solidFill>
                <a:latin typeface="Times New Roman Bold"/>
                <a:ea typeface="Times New Roman Bold"/>
                <a:cs typeface="Times New Roman Bold"/>
                <a:sym typeface="Times New Roman Bold"/>
              </a:rPr>
              <a:t>        ↓</a:t>
            </a:r>
          </a:p>
          <a:p>
            <a:pPr algn="ctr">
              <a:lnSpc>
                <a:spcPts val="2754"/>
              </a:lnSpc>
            </a:pPr>
            <a:r>
              <a:rPr lang="en-US" sz="1967" b="1">
                <a:solidFill>
                  <a:srgbClr val="000000"/>
                </a:solidFill>
                <a:latin typeface="Times New Roman Bold"/>
                <a:ea typeface="Times New Roman Bold"/>
                <a:cs typeface="Times New Roman Bold"/>
                <a:sym typeface="Times New Roman Bold"/>
              </a:rPr>
              <a:t>Stem Block</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        ↓</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Inception-ResNet-A × 5</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        ↓</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Reduction-A</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        ↓</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Inception-ResNet-B × 10</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        ↓</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Reduction-B</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        ↓</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Inception-ResNet-C × 5</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        ↓</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Global Average Pooling</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        ↓</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Dropout</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        ↓</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Fully Connected Layer</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        ↓</a:t>
            </a:r>
          </a:p>
          <a:p>
            <a:pPr algn="ctr">
              <a:lnSpc>
                <a:spcPts val="2754"/>
              </a:lnSpc>
              <a:spcBef>
                <a:spcPct val="0"/>
              </a:spcBef>
            </a:pPr>
            <a:r>
              <a:rPr lang="en-US" sz="1967" b="1">
                <a:solidFill>
                  <a:srgbClr val="000000"/>
                </a:solidFill>
                <a:latin typeface="Times New Roman Bold"/>
                <a:ea typeface="Times New Roman Bold"/>
                <a:cs typeface="Times New Roman Bold"/>
                <a:sym typeface="Times New Roman Bold"/>
              </a:rPr>
              <a:t>Output (Softmax)</a:t>
            </a:r>
          </a:p>
        </p:txBody>
      </p:sp>
      <p:sp>
        <p:nvSpPr>
          <p:cNvPr id="9" name="AutoShape 9"/>
          <p:cNvSpPr/>
          <p:nvPr/>
        </p:nvSpPr>
        <p:spPr>
          <a:xfrm>
            <a:off x="11141700" y="752109"/>
            <a:ext cx="6492240" cy="0"/>
          </a:xfrm>
          <a:prstGeom prst="line">
            <a:avLst/>
          </a:prstGeom>
          <a:ln w="76200" cap="flat">
            <a:solidFill>
              <a:srgbClr val="0F4662"/>
            </a:solidFill>
            <a:prstDash val="solid"/>
            <a:headEnd type="none" w="sm" len="sm"/>
            <a:tailEnd type="none" w="sm" len="sm"/>
          </a:ln>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grpSp>
        <p:nvGrpSpPr>
          <p:cNvPr id="2" name="Group 2"/>
          <p:cNvGrpSpPr/>
          <p:nvPr/>
        </p:nvGrpSpPr>
        <p:grpSpPr>
          <a:xfrm>
            <a:off x="12015475" y="2456695"/>
            <a:ext cx="5385764" cy="6426664"/>
            <a:chOff x="0" y="0"/>
            <a:chExt cx="1418473" cy="1692619"/>
          </a:xfrm>
        </p:grpSpPr>
        <p:sp>
          <p:nvSpPr>
            <p:cNvPr id="3" name="Freeform 3"/>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IN"/>
            </a:p>
          </p:txBody>
        </p:sp>
        <p:sp>
          <p:nvSpPr>
            <p:cNvPr id="4" name="TextBox 4"/>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sp>
        <p:nvSpPr>
          <p:cNvPr id="5" name="TextBox 5"/>
          <p:cNvSpPr txBox="1"/>
          <p:nvPr/>
        </p:nvSpPr>
        <p:spPr>
          <a:xfrm>
            <a:off x="1028700" y="352712"/>
            <a:ext cx="10166001" cy="988284"/>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000000"/>
                </a:solidFill>
                <a:latin typeface="Times New Roman Bold"/>
                <a:ea typeface="Times New Roman Bold"/>
                <a:cs typeface="Times New Roman Bold"/>
                <a:sym typeface="Times New Roman Bold"/>
              </a:rPr>
              <a:t>Materials &amp; Methodology </a:t>
            </a:r>
          </a:p>
        </p:txBody>
      </p:sp>
      <p:sp>
        <p:nvSpPr>
          <p:cNvPr id="6" name="TextBox 6"/>
          <p:cNvSpPr txBox="1"/>
          <p:nvPr/>
        </p:nvSpPr>
        <p:spPr>
          <a:xfrm>
            <a:off x="1447799" y="2608533"/>
            <a:ext cx="15953439" cy="5724324"/>
          </a:xfrm>
          <a:prstGeom prst="rect">
            <a:avLst/>
          </a:prstGeom>
        </p:spPr>
        <p:txBody>
          <a:bodyPr wrap="square" lIns="0" tIns="0" rIns="0" bIns="0" rtlCol="0" anchor="t">
            <a:spAutoFit/>
          </a:bodyPr>
          <a:lstStyle/>
          <a:p>
            <a:pPr marL="518160" lvl="1" indent="-259080" algn="just">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The dataset was collected from Kaggle.com and consists of real-life RGB leaf images.</a:t>
            </a:r>
          </a:p>
          <a:p>
            <a:pPr marL="518160" lvl="1" indent="-259080" algn="just">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Total dataset size: 8,751 images, classified into 38 classes across multiple crops (tomato, apple, grape, corn, potato, orange, strawberry, squash, etc.).</a:t>
            </a:r>
          </a:p>
          <a:p>
            <a:pPr marL="518160" lvl="1" indent="-259080" algn="just">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Images represent 4 major biological stress categories:</a:t>
            </a:r>
          </a:p>
          <a:p>
            <a:pPr marL="518160" lvl="1" indent="-259080" algn="just">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Viral, Bacterial, Fungal, and Pest-induced damage</a:t>
            </a:r>
          </a:p>
          <a:p>
            <a:pPr marL="518160" lvl="1" indent="-259080" algn="just">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The dataset demonstrates host–pathogen specificity, improving biological realism:</a:t>
            </a:r>
          </a:p>
          <a:p>
            <a:pPr marL="518160" lvl="1" indent="-259080" algn="just">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Citrus greening → Orange</a:t>
            </a:r>
          </a:p>
          <a:p>
            <a:pPr marL="518160" lvl="1" indent="-259080" algn="just">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Septoria leaf spot → Tomato</a:t>
            </a:r>
          </a:p>
          <a:p>
            <a:pPr marL="518160" lvl="1" indent="-259080" algn="just">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The dataset contains visible variations in </a:t>
            </a:r>
            <a:r>
              <a:rPr lang="en-US" sz="3200" b="1" dirty="0" err="1">
                <a:solidFill>
                  <a:srgbClr val="000000"/>
                </a:solidFill>
                <a:latin typeface="Times New Roman Bold"/>
                <a:ea typeface="Times New Roman Bold"/>
                <a:cs typeface="Times New Roman Bold"/>
                <a:sym typeface="Times New Roman Bold"/>
              </a:rPr>
              <a:t>colour</a:t>
            </a:r>
            <a:r>
              <a:rPr lang="en-US" sz="3200" b="1" dirty="0">
                <a:solidFill>
                  <a:srgbClr val="000000"/>
                </a:solidFill>
                <a:latin typeface="Times New Roman Bold"/>
                <a:ea typeface="Times New Roman Bold"/>
                <a:cs typeface="Times New Roman Bold"/>
                <a:sym typeface="Times New Roman Bold"/>
              </a:rPr>
              <a:t> and texture, allowing the model to learn physiological symptoms like:</a:t>
            </a:r>
          </a:p>
          <a:p>
            <a:pPr algn="just">
              <a:lnSpc>
                <a:spcPts val="4079"/>
              </a:lnSpc>
            </a:pPr>
            <a:r>
              <a:rPr lang="en-US" sz="2400" b="1" dirty="0">
                <a:solidFill>
                  <a:srgbClr val="000000"/>
                </a:solidFill>
                <a:latin typeface="Times New Roman Bold"/>
                <a:ea typeface="Times New Roman Bold"/>
                <a:cs typeface="Times New Roman Bold"/>
                <a:sym typeface="Times New Roman Bold"/>
              </a:rPr>
              <a:t>      chlorosis, necrosis, fungal growth, lesions, and mite damage.</a:t>
            </a:r>
          </a:p>
        </p:txBody>
      </p:sp>
      <p:sp>
        <p:nvSpPr>
          <p:cNvPr id="7" name="TextBox 7"/>
          <p:cNvSpPr txBox="1"/>
          <p:nvPr/>
        </p:nvSpPr>
        <p:spPr>
          <a:xfrm>
            <a:off x="886761" y="1512912"/>
            <a:ext cx="10986775" cy="625473"/>
          </a:xfrm>
          <a:prstGeom prst="rect">
            <a:avLst/>
          </a:prstGeom>
        </p:spPr>
        <p:txBody>
          <a:bodyPr lIns="0" tIns="0" rIns="0" bIns="0" rtlCol="0" anchor="t">
            <a:spAutoFit/>
          </a:bodyPr>
          <a:lstStyle/>
          <a:p>
            <a:pPr marL="755665" lvl="1" indent="-377833" algn="just">
              <a:lnSpc>
                <a:spcPts val="4900"/>
              </a:lnSpc>
              <a:buAutoNum type="arabicPeriod"/>
            </a:pPr>
            <a:r>
              <a:rPr lang="en-US" sz="3500" b="1" u="sng" dirty="0">
                <a:solidFill>
                  <a:srgbClr val="000000"/>
                </a:solidFill>
                <a:latin typeface="Times New Roman Bold"/>
                <a:ea typeface="Times New Roman Bold"/>
                <a:cs typeface="Times New Roman Bold"/>
                <a:sym typeface="Times New Roman Bold"/>
              </a:rPr>
              <a:t>DATASET COLLECTION AND PREPARATION</a:t>
            </a:r>
          </a:p>
        </p:txBody>
      </p:sp>
      <p:sp>
        <p:nvSpPr>
          <p:cNvPr id="8" name="Freeform 8"/>
          <p:cNvSpPr/>
          <p:nvPr/>
        </p:nvSpPr>
        <p:spPr>
          <a:xfrm>
            <a:off x="14432385" y="587083"/>
            <a:ext cx="2968854" cy="441617"/>
          </a:xfrm>
          <a:custGeom>
            <a:avLst/>
            <a:gdLst/>
            <a:ahLst/>
            <a:cxnLst/>
            <a:rect l="l" t="t" r="r" b="b"/>
            <a:pathLst>
              <a:path w="2968854" h="441617">
                <a:moveTo>
                  <a:pt x="0" y="0"/>
                </a:moveTo>
                <a:lnTo>
                  <a:pt x="2968854" y="0"/>
                </a:lnTo>
                <a:lnTo>
                  <a:pt x="2968854" y="441617"/>
                </a:lnTo>
                <a:lnTo>
                  <a:pt x="0" y="4416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AutoShape 9"/>
          <p:cNvSpPr/>
          <p:nvPr/>
        </p:nvSpPr>
        <p:spPr>
          <a:xfrm>
            <a:off x="680587" y="9711090"/>
            <a:ext cx="6492240" cy="0"/>
          </a:xfrm>
          <a:prstGeom prst="line">
            <a:avLst/>
          </a:prstGeom>
          <a:ln w="76200" cap="flat">
            <a:solidFill>
              <a:srgbClr val="0F4662"/>
            </a:solidFill>
            <a:prstDash val="solid"/>
            <a:headEnd type="none" w="sm" len="sm"/>
            <a:tailEnd type="none" w="sm" len="sm"/>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grpSp>
        <p:nvGrpSpPr>
          <p:cNvPr id="2" name="Group 2"/>
          <p:cNvGrpSpPr/>
          <p:nvPr/>
        </p:nvGrpSpPr>
        <p:grpSpPr>
          <a:xfrm>
            <a:off x="8449761" y="0"/>
            <a:ext cx="9838239" cy="10287000"/>
            <a:chOff x="0" y="0"/>
            <a:chExt cx="2591141" cy="2709333"/>
          </a:xfrm>
        </p:grpSpPr>
        <p:sp>
          <p:nvSpPr>
            <p:cNvPr id="3" name="Freeform 3"/>
            <p:cNvSpPr/>
            <p:nvPr/>
          </p:nvSpPr>
          <p:spPr>
            <a:xfrm>
              <a:off x="0" y="0"/>
              <a:ext cx="2591141" cy="2709333"/>
            </a:xfrm>
            <a:custGeom>
              <a:avLst/>
              <a:gdLst/>
              <a:ahLst/>
              <a:cxnLst/>
              <a:rect l="l" t="t" r="r" b="b"/>
              <a:pathLst>
                <a:path w="2591141" h="2709333">
                  <a:moveTo>
                    <a:pt x="0" y="0"/>
                  </a:moveTo>
                  <a:lnTo>
                    <a:pt x="2591141" y="0"/>
                  </a:lnTo>
                  <a:lnTo>
                    <a:pt x="2591141" y="2709333"/>
                  </a:lnTo>
                  <a:lnTo>
                    <a:pt x="0" y="2709333"/>
                  </a:lnTo>
                  <a:close/>
                </a:path>
              </a:pathLst>
            </a:custGeom>
            <a:solidFill>
              <a:srgbClr val="DBE5EA"/>
            </a:solidFill>
          </p:spPr>
          <p:txBody>
            <a:bodyPr/>
            <a:lstStyle/>
            <a:p>
              <a:endParaRPr lang="en-IN"/>
            </a:p>
          </p:txBody>
        </p:sp>
        <p:sp>
          <p:nvSpPr>
            <p:cNvPr id="4" name="TextBox 4"/>
            <p:cNvSpPr txBox="1"/>
            <p:nvPr/>
          </p:nvSpPr>
          <p:spPr>
            <a:xfrm>
              <a:off x="0" y="-123825"/>
              <a:ext cx="2591141" cy="2833158"/>
            </a:xfrm>
            <a:prstGeom prst="rect">
              <a:avLst/>
            </a:prstGeom>
          </p:spPr>
          <p:txBody>
            <a:bodyPr lIns="50800" tIns="50800" rIns="50800" bIns="50800" rtlCol="0" anchor="ctr"/>
            <a:lstStyle/>
            <a:p>
              <a:pPr algn="ctr">
                <a:lnSpc>
                  <a:spcPts val="4079"/>
                </a:lnSpc>
              </a:pPr>
              <a:endParaRPr/>
            </a:p>
          </p:txBody>
        </p:sp>
      </p:grpSp>
      <p:sp>
        <p:nvSpPr>
          <p:cNvPr id="5" name="AutoShape 5"/>
          <p:cNvSpPr/>
          <p:nvPr/>
        </p:nvSpPr>
        <p:spPr>
          <a:xfrm>
            <a:off x="1028700" y="9741523"/>
            <a:ext cx="6492240" cy="0"/>
          </a:xfrm>
          <a:prstGeom prst="line">
            <a:avLst/>
          </a:prstGeom>
          <a:ln w="76200" cap="flat">
            <a:solidFill>
              <a:srgbClr val="0F4662"/>
            </a:solidFill>
            <a:prstDash val="solid"/>
            <a:headEnd type="none" w="sm" len="sm"/>
            <a:tailEnd type="none" w="sm" len="sm"/>
          </a:ln>
        </p:spPr>
        <p:txBody>
          <a:bodyPr/>
          <a:lstStyle/>
          <a:p>
            <a:endParaRPr lang="en-IN"/>
          </a:p>
        </p:txBody>
      </p:sp>
      <p:sp>
        <p:nvSpPr>
          <p:cNvPr id="6" name="AutoShape 6"/>
          <p:cNvSpPr/>
          <p:nvPr/>
        </p:nvSpPr>
        <p:spPr>
          <a:xfrm>
            <a:off x="10767060" y="1028700"/>
            <a:ext cx="6492240" cy="0"/>
          </a:xfrm>
          <a:prstGeom prst="line">
            <a:avLst/>
          </a:prstGeom>
          <a:ln w="76200" cap="flat">
            <a:solidFill>
              <a:srgbClr val="0F4662"/>
            </a:solidFill>
            <a:prstDash val="solid"/>
            <a:headEnd type="none" w="sm" len="sm"/>
            <a:tailEnd type="none" w="sm" len="sm"/>
          </a:ln>
        </p:spPr>
        <p:txBody>
          <a:bodyPr/>
          <a:lstStyle/>
          <a:p>
            <a:endParaRPr lang="en-IN"/>
          </a:p>
        </p:txBody>
      </p:sp>
      <p:sp>
        <p:nvSpPr>
          <p:cNvPr id="7" name="TextBox 7"/>
          <p:cNvSpPr txBox="1"/>
          <p:nvPr/>
        </p:nvSpPr>
        <p:spPr>
          <a:xfrm>
            <a:off x="1045029" y="314813"/>
            <a:ext cx="10986775" cy="625473"/>
          </a:xfrm>
          <a:prstGeom prst="rect">
            <a:avLst/>
          </a:prstGeom>
        </p:spPr>
        <p:txBody>
          <a:bodyPr lIns="0" tIns="0" rIns="0" bIns="0" rtlCol="0" anchor="t">
            <a:spAutoFit/>
          </a:bodyPr>
          <a:lstStyle/>
          <a:p>
            <a:pPr marL="755665" lvl="1" indent="-377833" algn="just">
              <a:lnSpc>
                <a:spcPts val="4900"/>
              </a:lnSpc>
              <a:buAutoNum type="arabicPeriod"/>
            </a:pPr>
            <a:r>
              <a:rPr lang="en-US" sz="4400" b="1" u="sng" dirty="0">
                <a:solidFill>
                  <a:srgbClr val="000000"/>
                </a:solidFill>
                <a:latin typeface="Times New Roman Bold"/>
                <a:ea typeface="Times New Roman Bold"/>
                <a:cs typeface="Times New Roman Bold"/>
                <a:sym typeface="Times New Roman Bold"/>
              </a:rPr>
              <a:t>Data Preprocessing &amp; Dataset Splitting</a:t>
            </a:r>
          </a:p>
        </p:txBody>
      </p:sp>
      <p:sp>
        <p:nvSpPr>
          <p:cNvPr id="8" name="TextBox 8"/>
          <p:cNvSpPr txBox="1"/>
          <p:nvPr/>
        </p:nvSpPr>
        <p:spPr>
          <a:xfrm>
            <a:off x="1822270" y="1757905"/>
            <a:ext cx="13795999" cy="7741928"/>
          </a:xfrm>
          <a:prstGeom prst="rect">
            <a:avLst/>
          </a:prstGeom>
        </p:spPr>
        <p:txBody>
          <a:bodyPr lIns="0" tIns="0" rIns="0" bIns="0" rtlCol="0" anchor="t">
            <a:spAutoFit/>
          </a:bodyPr>
          <a:lstStyle/>
          <a:p>
            <a:pPr marL="479568" lvl="1" indent="-239784" algn="just">
              <a:lnSpc>
                <a:spcPts val="3776"/>
              </a:lnSpc>
              <a:buFont typeface="Arial"/>
              <a:buChar char="•"/>
            </a:pPr>
            <a:r>
              <a:rPr lang="en-US" sz="4000" b="1" dirty="0">
                <a:solidFill>
                  <a:srgbClr val="000000"/>
                </a:solidFill>
                <a:latin typeface="Times New Roman Bold"/>
                <a:ea typeface="Times New Roman Bold"/>
                <a:cs typeface="Times New Roman Bold"/>
                <a:sym typeface="Times New Roman Bold"/>
              </a:rPr>
              <a:t>Images were organized class-wise using labels (plant + disease).</a:t>
            </a:r>
          </a:p>
          <a:p>
            <a:pPr marL="479568" lvl="1" indent="-239784" algn="just">
              <a:lnSpc>
                <a:spcPts val="3776"/>
              </a:lnSpc>
              <a:buFont typeface="Arial"/>
              <a:buChar char="•"/>
            </a:pPr>
            <a:r>
              <a:rPr lang="en-US" sz="4000" b="1" dirty="0">
                <a:solidFill>
                  <a:srgbClr val="000000"/>
                </a:solidFill>
                <a:latin typeface="Times New Roman Bold"/>
                <a:ea typeface="Times New Roman Bold"/>
                <a:cs typeface="Times New Roman Bold"/>
                <a:sym typeface="Times New Roman Bold"/>
              </a:rPr>
              <a:t>Dataset was split into:</a:t>
            </a:r>
          </a:p>
          <a:p>
            <a:pPr marL="479568" lvl="1" indent="-239784" algn="just">
              <a:lnSpc>
                <a:spcPts val="3776"/>
              </a:lnSpc>
              <a:buAutoNum type="arabicPeriod"/>
            </a:pPr>
            <a:r>
              <a:rPr lang="en-US" sz="4000" b="1" dirty="0">
                <a:solidFill>
                  <a:srgbClr val="000000"/>
                </a:solidFill>
                <a:latin typeface="Times New Roman Bold"/>
                <a:ea typeface="Times New Roman Bold"/>
                <a:cs typeface="Times New Roman Bold"/>
                <a:sym typeface="Times New Roman Bold"/>
              </a:rPr>
              <a:t>Training: 70%</a:t>
            </a:r>
          </a:p>
          <a:p>
            <a:pPr marL="479568" lvl="1" indent="-239784" algn="just">
              <a:lnSpc>
                <a:spcPts val="3776"/>
              </a:lnSpc>
              <a:buAutoNum type="arabicPeriod"/>
            </a:pPr>
            <a:r>
              <a:rPr lang="en-US" sz="4000" b="1" dirty="0">
                <a:solidFill>
                  <a:srgbClr val="000000"/>
                </a:solidFill>
                <a:latin typeface="Times New Roman Bold"/>
                <a:ea typeface="Times New Roman Bold"/>
                <a:cs typeface="Times New Roman Bold"/>
                <a:sym typeface="Times New Roman Bold"/>
              </a:rPr>
              <a:t>Validation: 20%</a:t>
            </a:r>
          </a:p>
          <a:p>
            <a:pPr marL="479568" lvl="1" indent="-239784" algn="just">
              <a:lnSpc>
                <a:spcPts val="3776"/>
              </a:lnSpc>
              <a:buAutoNum type="arabicPeriod"/>
            </a:pPr>
            <a:r>
              <a:rPr lang="en-US" sz="4000" b="1" dirty="0">
                <a:solidFill>
                  <a:srgbClr val="000000"/>
                </a:solidFill>
                <a:latin typeface="Times New Roman Bold"/>
                <a:ea typeface="Times New Roman Bold"/>
                <a:cs typeface="Times New Roman Bold"/>
                <a:sym typeface="Times New Roman Bold"/>
              </a:rPr>
              <a:t>Testing: 10%</a:t>
            </a:r>
          </a:p>
          <a:p>
            <a:pPr marL="479568" lvl="1" indent="-239784" algn="just">
              <a:lnSpc>
                <a:spcPts val="3776"/>
              </a:lnSpc>
              <a:buFont typeface="Arial"/>
              <a:buChar char="•"/>
            </a:pPr>
            <a:r>
              <a:rPr lang="en-US" sz="4000" b="1" dirty="0">
                <a:solidFill>
                  <a:srgbClr val="000000"/>
                </a:solidFill>
                <a:latin typeface="Times New Roman Bold"/>
                <a:ea typeface="Times New Roman Bold"/>
                <a:cs typeface="Times New Roman Bold"/>
                <a:sym typeface="Times New Roman Bold"/>
              </a:rPr>
              <a:t>Preprocessing steps:</a:t>
            </a:r>
          </a:p>
          <a:p>
            <a:pPr marL="479568" lvl="1" indent="-239784" algn="just">
              <a:lnSpc>
                <a:spcPts val="3776"/>
              </a:lnSpc>
              <a:buAutoNum type="arabicPeriod"/>
            </a:pPr>
            <a:r>
              <a:rPr lang="en-US" sz="4000" b="1" dirty="0">
                <a:solidFill>
                  <a:srgbClr val="000000"/>
                </a:solidFill>
                <a:latin typeface="Times New Roman Bold"/>
                <a:ea typeface="Times New Roman Bold"/>
                <a:cs typeface="Times New Roman Bold"/>
                <a:sym typeface="Times New Roman Bold"/>
              </a:rPr>
              <a:t>Resizing all images to 224 × 224 pixels</a:t>
            </a:r>
          </a:p>
          <a:p>
            <a:pPr marL="479568" lvl="1" indent="-239784" algn="just">
              <a:lnSpc>
                <a:spcPts val="3776"/>
              </a:lnSpc>
              <a:buAutoNum type="arabicPeriod"/>
            </a:pPr>
            <a:r>
              <a:rPr lang="en-US" sz="4000" b="1" dirty="0">
                <a:solidFill>
                  <a:srgbClr val="000000"/>
                </a:solidFill>
                <a:latin typeface="Times New Roman Bold"/>
                <a:ea typeface="Times New Roman Bold"/>
                <a:cs typeface="Times New Roman Bold"/>
                <a:sym typeface="Times New Roman Bold"/>
              </a:rPr>
              <a:t>Pixel normalization to range [0,1]</a:t>
            </a:r>
          </a:p>
          <a:p>
            <a:pPr marL="479568" lvl="1" indent="-239784" algn="just">
              <a:lnSpc>
                <a:spcPts val="3776"/>
              </a:lnSpc>
              <a:buFont typeface="Arial"/>
              <a:buChar char="•"/>
            </a:pPr>
            <a:r>
              <a:rPr lang="en-US" sz="4000" b="1" dirty="0">
                <a:solidFill>
                  <a:srgbClr val="000000"/>
                </a:solidFill>
                <a:latin typeface="Times New Roman Bold"/>
                <a:ea typeface="Times New Roman Bold"/>
                <a:cs typeface="Times New Roman Bold"/>
                <a:sym typeface="Times New Roman Bold"/>
              </a:rPr>
              <a:t>Data augmentation was applied only on training data to improve generalization:</a:t>
            </a:r>
          </a:p>
          <a:p>
            <a:pPr marL="479568" lvl="1" indent="-239784" algn="just">
              <a:lnSpc>
                <a:spcPts val="3776"/>
              </a:lnSpc>
              <a:buFont typeface="Arial"/>
              <a:buChar char="•"/>
            </a:pPr>
            <a:r>
              <a:rPr lang="en-US" sz="4000" b="1" dirty="0">
                <a:solidFill>
                  <a:srgbClr val="000000"/>
                </a:solidFill>
                <a:latin typeface="Times New Roman Bold"/>
                <a:ea typeface="Times New Roman Bold"/>
                <a:cs typeface="Times New Roman Bold"/>
                <a:sym typeface="Times New Roman Bold"/>
              </a:rPr>
              <a:t>Random rotation</a:t>
            </a:r>
          </a:p>
          <a:p>
            <a:pPr marL="479568" lvl="1" indent="-239784" algn="just">
              <a:lnSpc>
                <a:spcPts val="3776"/>
              </a:lnSpc>
              <a:buFont typeface="Arial"/>
              <a:buChar char="•"/>
            </a:pPr>
            <a:r>
              <a:rPr lang="en-US" sz="4000" b="1" dirty="0">
                <a:solidFill>
                  <a:srgbClr val="000000"/>
                </a:solidFill>
                <a:latin typeface="Times New Roman Bold"/>
                <a:ea typeface="Times New Roman Bold"/>
                <a:cs typeface="Times New Roman Bold"/>
                <a:sym typeface="Times New Roman Bold"/>
              </a:rPr>
              <a:t>Horizontal flipping</a:t>
            </a:r>
          </a:p>
          <a:p>
            <a:pPr marL="479568" lvl="1" indent="-239784" algn="just">
              <a:lnSpc>
                <a:spcPts val="3776"/>
              </a:lnSpc>
              <a:buFont typeface="Arial"/>
              <a:buChar char="•"/>
            </a:pPr>
            <a:r>
              <a:rPr lang="en-US" sz="4000" b="1" dirty="0">
                <a:solidFill>
                  <a:srgbClr val="000000"/>
                </a:solidFill>
                <a:latin typeface="Times New Roman Bold"/>
                <a:ea typeface="Times New Roman Bold"/>
                <a:cs typeface="Times New Roman Bold"/>
                <a:sym typeface="Times New Roman Bold"/>
              </a:rPr>
              <a:t>Width/height shifting</a:t>
            </a:r>
          </a:p>
          <a:p>
            <a:pPr marL="479568" lvl="1" indent="-239784" algn="just">
              <a:lnSpc>
                <a:spcPts val="3776"/>
              </a:lnSpc>
              <a:buFont typeface="Arial"/>
              <a:buChar char="•"/>
            </a:pPr>
            <a:r>
              <a:rPr lang="en-US" sz="4000" b="1" dirty="0">
                <a:solidFill>
                  <a:srgbClr val="000000"/>
                </a:solidFill>
                <a:latin typeface="Times New Roman Bold"/>
                <a:ea typeface="Times New Roman Bold"/>
                <a:cs typeface="Times New Roman Bold"/>
                <a:sym typeface="Times New Roman Bold"/>
              </a:rPr>
              <a:t>Zoom transformation</a:t>
            </a:r>
          </a:p>
          <a:p>
            <a:pPr algn="just">
              <a:lnSpc>
                <a:spcPts val="3776"/>
              </a:lnSpc>
            </a:pPr>
            <a:endParaRPr lang="en-US" sz="2221" b="1" dirty="0">
              <a:solidFill>
                <a:srgbClr val="000000"/>
              </a:solidFill>
              <a:latin typeface="Times New Roman Bold"/>
              <a:ea typeface="Times New Roman Bold"/>
              <a:cs typeface="Times New Roman Bold"/>
              <a:sym typeface="Times New Roman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grpSp>
        <p:nvGrpSpPr>
          <p:cNvPr id="2" name="Group 2"/>
          <p:cNvGrpSpPr/>
          <p:nvPr/>
        </p:nvGrpSpPr>
        <p:grpSpPr>
          <a:xfrm>
            <a:off x="13660651" y="0"/>
            <a:ext cx="4627349" cy="10287000"/>
            <a:chOff x="0" y="0"/>
            <a:chExt cx="1218726" cy="2709333"/>
          </a:xfrm>
        </p:grpSpPr>
        <p:sp>
          <p:nvSpPr>
            <p:cNvPr id="3" name="Freeform 3"/>
            <p:cNvSpPr/>
            <p:nvPr/>
          </p:nvSpPr>
          <p:spPr>
            <a:xfrm>
              <a:off x="0" y="0"/>
              <a:ext cx="1218726" cy="2709333"/>
            </a:xfrm>
            <a:custGeom>
              <a:avLst/>
              <a:gdLst/>
              <a:ahLst/>
              <a:cxnLst/>
              <a:rect l="l" t="t" r="r" b="b"/>
              <a:pathLst>
                <a:path w="1218726" h="2709333">
                  <a:moveTo>
                    <a:pt x="0" y="0"/>
                  </a:moveTo>
                  <a:lnTo>
                    <a:pt x="1218726" y="0"/>
                  </a:lnTo>
                  <a:lnTo>
                    <a:pt x="1218726" y="2709333"/>
                  </a:lnTo>
                  <a:lnTo>
                    <a:pt x="0" y="2709333"/>
                  </a:lnTo>
                  <a:close/>
                </a:path>
              </a:pathLst>
            </a:custGeom>
            <a:solidFill>
              <a:srgbClr val="7994A0"/>
            </a:solidFill>
          </p:spPr>
          <p:txBody>
            <a:bodyPr/>
            <a:lstStyle/>
            <a:p>
              <a:endParaRPr lang="en-IN"/>
            </a:p>
          </p:txBody>
        </p:sp>
        <p:sp>
          <p:nvSpPr>
            <p:cNvPr id="4" name="TextBox 4"/>
            <p:cNvSpPr txBox="1"/>
            <p:nvPr/>
          </p:nvSpPr>
          <p:spPr>
            <a:xfrm>
              <a:off x="0" y="-123825"/>
              <a:ext cx="1218726" cy="2833158"/>
            </a:xfrm>
            <a:prstGeom prst="rect">
              <a:avLst/>
            </a:prstGeom>
          </p:spPr>
          <p:txBody>
            <a:bodyPr lIns="50800" tIns="50800" rIns="50800" bIns="50800" rtlCol="0" anchor="ctr"/>
            <a:lstStyle/>
            <a:p>
              <a:pPr algn="ctr">
                <a:lnSpc>
                  <a:spcPts val="4079"/>
                </a:lnSpc>
              </a:pPr>
              <a:endParaRPr/>
            </a:p>
          </p:txBody>
        </p:sp>
      </p:grpSp>
      <p:sp>
        <p:nvSpPr>
          <p:cNvPr id="5" name="Freeform 5"/>
          <p:cNvSpPr/>
          <p:nvPr/>
        </p:nvSpPr>
        <p:spPr>
          <a:xfrm>
            <a:off x="13780271" y="609331"/>
            <a:ext cx="4420952" cy="8290116"/>
          </a:xfrm>
          <a:custGeom>
            <a:avLst/>
            <a:gdLst/>
            <a:ahLst/>
            <a:cxnLst/>
            <a:rect l="l" t="t" r="r" b="b"/>
            <a:pathLst>
              <a:path w="4420952" h="8290116">
                <a:moveTo>
                  <a:pt x="0" y="0"/>
                </a:moveTo>
                <a:lnTo>
                  <a:pt x="4420952" y="0"/>
                </a:lnTo>
                <a:lnTo>
                  <a:pt x="4420952" y="8290116"/>
                </a:lnTo>
                <a:lnTo>
                  <a:pt x="0" y="8290116"/>
                </a:lnTo>
                <a:lnTo>
                  <a:pt x="0" y="0"/>
                </a:lnTo>
                <a:close/>
              </a:path>
            </a:pathLst>
          </a:custGeom>
          <a:blipFill>
            <a:blip r:embed="rId2"/>
            <a:stretch>
              <a:fillRect l="-19170" t="-2518" r="-22303" b="-10720"/>
            </a:stretch>
          </a:blipFill>
        </p:spPr>
        <p:txBody>
          <a:bodyPr/>
          <a:lstStyle/>
          <a:p>
            <a:endParaRPr lang="en-IN"/>
          </a:p>
        </p:txBody>
      </p:sp>
      <p:sp>
        <p:nvSpPr>
          <p:cNvPr id="6" name="TextBox 6"/>
          <p:cNvSpPr txBox="1"/>
          <p:nvPr/>
        </p:nvSpPr>
        <p:spPr>
          <a:xfrm>
            <a:off x="914400" y="317559"/>
            <a:ext cx="11658600" cy="628377"/>
          </a:xfrm>
          <a:prstGeom prst="rect">
            <a:avLst/>
          </a:prstGeom>
        </p:spPr>
        <p:txBody>
          <a:bodyPr wrap="square" lIns="0" tIns="0" rIns="0" bIns="0" rtlCol="0" anchor="t">
            <a:spAutoFit/>
          </a:bodyPr>
          <a:lstStyle/>
          <a:p>
            <a:pPr marL="755651" lvl="1" indent="-377825" algn="l">
              <a:lnSpc>
                <a:spcPts val="4900"/>
              </a:lnSpc>
              <a:spcBef>
                <a:spcPct val="0"/>
              </a:spcBef>
              <a:buAutoNum type="arabicPeriod"/>
            </a:pPr>
            <a:r>
              <a:rPr lang="en-US" sz="4800" b="1" dirty="0">
                <a:solidFill>
                  <a:srgbClr val="000000"/>
                </a:solidFill>
                <a:latin typeface="Times New Roman Bold"/>
                <a:ea typeface="Times New Roman Bold"/>
                <a:cs typeface="Times New Roman Bold"/>
                <a:sym typeface="Times New Roman Bold"/>
              </a:rPr>
              <a:t>Model Training, Evaluation &amp; Output </a:t>
            </a:r>
          </a:p>
        </p:txBody>
      </p:sp>
      <p:sp>
        <p:nvSpPr>
          <p:cNvPr id="7" name="TextBox 7"/>
          <p:cNvSpPr txBox="1"/>
          <p:nvPr/>
        </p:nvSpPr>
        <p:spPr>
          <a:xfrm>
            <a:off x="1672938" y="1229768"/>
            <a:ext cx="10900062" cy="7827464"/>
          </a:xfrm>
          <a:prstGeom prst="rect">
            <a:avLst/>
          </a:prstGeom>
        </p:spPr>
        <p:txBody>
          <a:bodyPr lIns="0" tIns="0" rIns="0" bIns="0" rtlCol="0" anchor="t">
            <a:spAutoFit/>
          </a:bodyPr>
          <a:lstStyle/>
          <a:p>
            <a:pPr marL="518160" lvl="1" indent="-259080" algn="just">
              <a:lnSpc>
                <a:spcPts val="4079"/>
              </a:lnSpc>
              <a:buFont typeface="Arial"/>
              <a:buChar char="•"/>
            </a:pPr>
            <a:r>
              <a:rPr lang="en-US" sz="4000" b="1" dirty="0">
                <a:solidFill>
                  <a:srgbClr val="000000"/>
                </a:solidFill>
                <a:latin typeface="Times New Roman Bold"/>
                <a:ea typeface="Times New Roman Bold"/>
                <a:cs typeface="Times New Roman Bold"/>
                <a:sym typeface="Times New Roman Bold"/>
              </a:rPr>
              <a:t>Multiple models were trained and compared: DCNN, BPCNN-9, VGG-16, Inception-ResNet-V2, </a:t>
            </a:r>
            <a:r>
              <a:rPr lang="en-US" sz="4000" b="1" dirty="0" err="1">
                <a:solidFill>
                  <a:srgbClr val="000000"/>
                </a:solidFill>
                <a:latin typeface="Times New Roman Bold"/>
                <a:ea typeface="Times New Roman Bold"/>
                <a:cs typeface="Times New Roman Bold"/>
                <a:sym typeface="Times New Roman Bold"/>
              </a:rPr>
              <a:t>Xception</a:t>
            </a:r>
            <a:r>
              <a:rPr lang="en-US" sz="4000" b="1" dirty="0">
                <a:solidFill>
                  <a:srgbClr val="000000"/>
                </a:solidFill>
                <a:latin typeface="Times New Roman Bold"/>
                <a:ea typeface="Times New Roman Bold"/>
                <a:cs typeface="Times New Roman Bold"/>
                <a:sym typeface="Times New Roman Bold"/>
              </a:rPr>
              <a:t>, ResNet-50 + SVM</a:t>
            </a:r>
          </a:p>
          <a:p>
            <a:pPr marL="518160" lvl="1" indent="-259080" algn="just">
              <a:lnSpc>
                <a:spcPts val="4079"/>
              </a:lnSpc>
              <a:buFont typeface="Arial"/>
              <a:buChar char="•"/>
            </a:pPr>
            <a:endParaRPr lang="en-US" sz="4000" b="1" dirty="0">
              <a:solidFill>
                <a:srgbClr val="000000"/>
              </a:solidFill>
              <a:latin typeface="Times New Roman Bold"/>
              <a:ea typeface="Times New Roman Bold"/>
              <a:cs typeface="Times New Roman Bold"/>
              <a:sym typeface="Times New Roman Bold"/>
            </a:endParaRPr>
          </a:p>
          <a:p>
            <a:pPr marL="518160" lvl="1" indent="-259080" algn="just">
              <a:lnSpc>
                <a:spcPts val="4079"/>
              </a:lnSpc>
              <a:buFont typeface="Arial"/>
              <a:buChar char="•"/>
            </a:pPr>
            <a:r>
              <a:rPr lang="en-US" sz="4000" b="1" dirty="0">
                <a:solidFill>
                  <a:srgbClr val="000000"/>
                </a:solidFill>
                <a:latin typeface="Times New Roman Bold"/>
                <a:ea typeface="Times New Roman Bold"/>
                <a:cs typeface="Times New Roman Bold"/>
                <a:sym typeface="Times New Roman Bold"/>
              </a:rPr>
              <a:t>Training used categorical cross-entropy, Adam optimizer, batch size 32</a:t>
            </a:r>
          </a:p>
          <a:p>
            <a:pPr marL="518160" lvl="1" indent="-259080" algn="just">
              <a:lnSpc>
                <a:spcPts val="4079"/>
              </a:lnSpc>
              <a:buFont typeface="Arial"/>
              <a:buChar char="•"/>
            </a:pPr>
            <a:endParaRPr lang="en-US" sz="4000" b="1" dirty="0">
              <a:solidFill>
                <a:srgbClr val="000000"/>
              </a:solidFill>
              <a:latin typeface="Times New Roman Bold"/>
              <a:ea typeface="Times New Roman Bold"/>
              <a:cs typeface="Times New Roman Bold"/>
              <a:sym typeface="Times New Roman Bold"/>
            </a:endParaRPr>
          </a:p>
          <a:p>
            <a:pPr marL="518160" lvl="1" indent="-259080" algn="just">
              <a:lnSpc>
                <a:spcPts val="4079"/>
              </a:lnSpc>
              <a:buFont typeface="Arial"/>
              <a:buChar char="•"/>
            </a:pPr>
            <a:r>
              <a:rPr lang="en-US" sz="4000" b="1" dirty="0">
                <a:solidFill>
                  <a:srgbClr val="000000"/>
                </a:solidFill>
                <a:latin typeface="Times New Roman Bold"/>
                <a:ea typeface="Times New Roman Bold"/>
                <a:cs typeface="Times New Roman Bold"/>
                <a:sym typeface="Times New Roman Bold"/>
              </a:rPr>
              <a:t>Performance was evaluated using accuracy, precision, recall, F1-score, and confusion matrix</a:t>
            </a:r>
          </a:p>
          <a:p>
            <a:pPr marL="518160" lvl="1" indent="-259080" algn="just">
              <a:lnSpc>
                <a:spcPts val="4079"/>
              </a:lnSpc>
              <a:buFont typeface="Arial"/>
              <a:buChar char="•"/>
            </a:pPr>
            <a:endParaRPr lang="en-US" sz="4000" b="1" dirty="0">
              <a:solidFill>
                <a:srgbClr val="000000"/>
              </a:solidFill>
              <a:latin typeface="Times New Roman Bold"/>
              <a:ea typeface="Times New Roman Bold"/>
              <a:cs typeface="Times New Roman Bold"/>
              <a:sym typeface="Times New Roman Bold"/>
            </a:endParaRPr>
          </a:p>
          <a:p>
            <a:pPr marL="518160" lvl="1" indent="-259080" algn="just">
              <a:lnSpc>
                <a:spcPts val="4079"/>
              </a:lnSpc>
              <a:buFont typeface="Arial"/>
              <a:buChar char="•"/>
            </a:pPr>
            <a:r>
              <a:rPr lang="en-US" sz="4000" b="1" dirty="0">
                <a:solidFill>
                  <a:srgbClr val="000000"/>
                </a:solidFill>
                <a:latin typeface="Times New Roman Bold"/>
                <a:ea typeface="Times New Roman Bold"/>
                <a:cs typeface="Times New Roman Bold"/>
                <a:sym typeface="Times New Roman Bold"/>
              </a:rPr>
              <a:t>Final system outputs the predicted class + confidence score + simple biological explanation</a:t>
            </a:r>
          </a:p>
          <a:p>
            <a:pPr algn="just">
              <a:lnSpc>
                <a:spcPts val="4079"/>
              </a:lnSpc>
            </a:pPr>
            <a:endParaRPr lang="en-US" sz="2400" b="1" dirty="0">
              <a:solidFill>
                <a:srgbClr val="000000"/>
              </a:solidFill>
              <a:latin typeface="Times New Roman Bold"/>
              <a:ea typeface="Times New Roman Bold"/>
              <a:cs typeface="Times New Roman Bold"/>
              <a:sym typeface="Times New Roman Bold"/>
            </a:endParaRPr>
          </a:p>
        </p:txBody>
      </p:sp>
      <p:grpSp>
        <p:nvGrpSpPr>
          <p:cNvPr id="8" name="Group 8"/>
          <p:cNvGrpSpPr/>
          <p:nvPr/>
        </p:nvGrpSpPr>
        <p:grpSpPr>
          <a:xfrm>
            <a:off x="15834615" y="8364273"/>
            <a:ext cx="537332" cy="362894"/>
            <a:chOff x="0" y="0"/>
            <a:chExt cx="438150" cy="295910"/>
          </a:xfrm>
        </p:grpSpPr>
        <p:sp>
          <p:nvSpPr>
            <p:cNvPr id="9" name="Freeform 9"/>
            <p:cNvSpPr/>
            <p:nvPr/>
          </p:nvSpPr>
          <p:spPr>
            <a:xfrm>
              <a:off x="43929" y="47837"/>
              <a:ext cx="343421" cy="201616"/>
            </a:xfrm>
            <a:custGeom>
              <a:avLst/>
              <a:gdLst/>
              <a:ahLst/>
              <a:cxnLst/>
              <a:rect l="l" t="t" r="r" b="b"/>
              <a:pathLst>
                <a:path w="343421" h="201616">
                  <a:moveTo>
                    <a:pt x="175781" y="164253"/>
                  </a:moveTo>
                  <a:cubicBezTo>
                    <a:pt x="131331" y="147743"/>
                    <a:pt x="91961" y="80433"/>
                    <a:pt x="103391" y="56303"/>
                  </a:cubicBezTo>
                  <a:cubicBezTo>
                    <a:pt x="118631" y="28363"/>
                    <a:pt x="227851" y="18203"/>
                    <a:pt x="265951" y="22013"/>
                  </a:cubicBezTo>
                  <a:cubicBezTo>
                    <a:pt x="287541" y="24553"/>
                    <a:pt x="302781" y="32173"/>
                    <a:pt x="315481" y="43603"/>
                  </a:cubicBezTo>
                  <a:cubicBezTo>
                    <a:pt x="328181" y="53763"/>
                    <a:pt x="338341" y="72813"/>
                    <a:pt x="342151" y="89323"/>
                  </a:cubicBezTo>
                  <a:cubicBezTo>
                    <a:pt x="344691" y="105833"/>
                    <a:pt x="342151" y="127423"/>
                    <a:pt x="334531" y="142663"/>
                  </a:cubicBezTo>
                  <a:cubicBezTo>
                    <a:pt x="328181" y="157903"/>
                    <a:pt x="312941" y="173143"/>
                    <a:pt x="297701" y="180763"/>
                  </a:cubicBezTo>
                  <a:cubicBezTo>
                    <a:pt x="282461" y="188383"/>
                    <a:pt x="260871" y="192193"/>
                    <a:pt x="244361" y="188383"/>
                  </a:cubicBezTo>
                  <a:cubicBezTo>
                    <a:pt x="227851" y="185843"/>
                    <a:pt x="208801" y="175683"/>
                    <a:pt x="197371" y="162983"/>
                  </a:cubicBezTo>
                  <a:cubicBezTo>
                    <a:pt x="185941" y="150283"/>
                    <a:pt x="175781" y="131233"/>
                    <a:pt x="175781" y="113453"/>
                  </a:cubicBezTo>
                  <a:cubicBezTo>
                    <a:pt x="175781" y="91863"/>
                    <a:pt x="189751" y="56303"/>
                    <a:pt x="206261" y="41063"/>
                  </a:cubicBezTo>
                  <a:cubicBezTo>
                    <a:pt x="218961" y="28363"/>
                    <a:pt x="239281" y="23283"/>
                    <a:pt x="255791" y="22013"/>
                  </a:cubicBezTo>
                  <a:cubicBezTo>
                    <a:pt x="273571" y="22013"/>
                    <a:pt x="293891" y="25823"/>
                    <a:pt x="307861" y="37253"/>
                  </a:cubicBezTo>
                  <a:cubicBezTo>
                    <a:pt x="324371" y="51223"/>
                    <a:pt x="343421" y="84243"/>
                    <a:pt x="343421" y="107103"/>
                  </a:cubicBezTo>
                  <a:cubicBezTo>
                    <a:pt x="343421" y="131233"/>
                    <a:pt x="329451" y="160443"/>
                    <a:pt x="305321" y="176953"/>
                  </a:cubicBezTo>
                  <a:cubicBezTo>
                    <a:pt x="265951" y="202353"/>
                    <a:pt x="142761" y="206163"/>
                    <a:pt x="90691" y="197273"/>
                  </a:cubicBezTo>
                  <a:cubicBezTo>
                    <a:pt x="60211" y="190923"/>
                    <a:pt x="34811" y="184573"/>
                    <a:pt x="19571" y="164253"/>
                  </a:cubicBezTo>
                  <a:cubicBezTo>
                    <a:pt x="1791" y="138853"/>
                    <a:pt x="-7099" y="76623"/>
                    <a:pt x="6871" y="48683"/>
                  </a:cubicBezTo>
                  <a:cubicBezTo>
                    <a:pt x="19571" y="24553"/>
                    <a:pt x="61481" y="10583"/>
                    <a:pt x="89421" y="2963"/>
                  </a:cubicBezTo>
                  <a:cubicBezTo>
                    <a:pt x="114821" y="-3387"/>
                    <a:pt x="144031" y="1693"/>
                    <a:pt x="169431" y="6773"/>
                  </a:cubicBezTo>
                  <a:cubicBezTo>
                    <a:pt x="191021" y="9313"/>
                    <a:pt x="215151" y="10583"/>
                    <a:pt x="230391" y="23283"/>
                  </a:cubicBezTo>
                  <a:cubicBezTo>
                    <a:pt x="246901" y="37253"/>
                    <a:pt x="263411" y="66463"/>
                    <a:pt x="263411" y="88053"/>
                  </a:cubicBezTo>
                  <a:cubicBezTo>
                    <a:pt x="263411" y="109643"/>
                    <a:pt x="245631" y="138853"/>
                    <a:pt x="229121" y="151553"/>
                  </a:cubicBezTo>
                  <a:cubicBezTo>
                    <a:pt x="215151" y="161713"/>
                    <a:pt x="175781" y="164253"/>
                    <a:pt x="175781" y="164253"/>
                  </a:cubicBezTo>
                </a:path>
              </a:pathLst>
            </a:custGeom>
            <a:solidFill>
              <a:srgbClr val="FFFFFF"/>
            </a:solidFill>
            <a:ln cap="sq">
              <a:noFill/>
              <a:prstDash val="solid"/>
              <a:miter/>
            </a:ln>
          </p:spPr>
          <p:txBody>
            <a:bodyPr/>
            <a:lstStyle/>
            <a:p>
              <a:endParaRPr lang="en-IN"/>
            </a:p>
          </p:txBody>
        </p:sp>
      </p:grpSp>
      <p:sp>
        <p:nvSpPr>
          <p:cNvPr id="10" name="Freeform 10"/>
          <p:cNvSpPr/>
          <p:nvPr/>
        </p:nvSpPr>
        <p:spPr>
          <a:xfrm>
            <a:off x="1028700" y="8899447"/>
            <a:ext cx="2968854" cy="441617"/>
          </a:xfrm>
          <a:custGeom>
            <a:avLst/>
            <a:gdLst/>
            <a:ahLst/>
            <a:cxnLst/>
            <a:rect l="l" t="t" r="r" b="b"/>
            <a:pathLst>
              <a:path w="2968854" h="441617">
                <a:moveTo>
                  <a:pt x="0" y="0"/>
                </a:moveTo>
                <a:lnTo>
                  <a:pt x="2968854" y="0"/>
                </a:lnTo>
                <a:lnTo>
                  <a:pt x="2968854" y="441617"/>
                </a:lnTo>
                <a:lnTo>
                  <a:pt x="0" y="4416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Freeform 2"/>
          <p:cNvSpPr/>
          <p:nvPr/>
        </p:nvSpPr>
        <p:spPr>
          <a:xfrm>
            <a:off x="9560549" y="488104"/>
            <a:ext cx="8139385" cy="4191783"/>
          </a:xfrm>
          <a:custGeom>
            <a:avLst/>
            <a:gdLst/>
            <a:ahLst/>
            <a:cxnLst/>
            <a:rect l="l" t="t" r="r" b="b"/>
            <a:pathLst>
              <a:path w="8139385" h="4191783">
                <a:moveTo>
                  <a:pt x="0" y="0"/>
                </a:moveTo>
                <a:lnTo>
                  <a:pt x="8139385" y="0"/>
                </a:lnTo>
                <a:lnTo>
                  <a:pt x="8139385" y="4191784"/>
                </a:lnTo>
                <a:lnTo>
                  <a:pt x="0" y="4191784"/>
                </a:lnTo>
                <a:lnTo>
                  <a:pt x="0" y="0"/>
                </a:lnTo>
                <a:close/>
              </a:path>
            </a:pathLst>
          </a:custGeom>
          <a:blipFill>
            <a:blip r:embed="rId2"/>
            <a:stretch>
              <a:fillRect/>
            </a:stretch>
          </a:blipFill>
        </p:spPr>
        <p:txBody>
          <a:bodyPr/>
          <a:lstStyle/>
          <a:p>
            <a:endParaRPr lang="en-IN"/>
          </a:p>
        </p:txBody>
      </p:sp>
      <p:sp>
        <p:nvSpPr>
          <p:cNvPr id="3" name="Freeform 3"/>
          <p:cNvSpPr/>
          <p:nvPr/>
        </p:nvSpPr>
        <p:spPr>
          <a:xfrm>
            <a:off x="9560549" y="5143500"/>
            <a:ext cx="8139385" cy="3500586"/>
          </a:xfrm>
          <a:custGeom>
            <a:avLst/>
            <a:gdLst/>
            <a:ahLst/>
            <a:cxnLst/>
            <a:rect l="l" t="t" r="r" b="b"/>
            <a:pathLst>
              <a:path w="8139385" h="3500586">
                <a:moveTo>
                  <a:pt x="0" y="0"/>
                </a:moveTo>
                <a:lnTo>
                  <a:pt x="8139385" y="0"/>
                </a:lnTo>
                <a:lnTo>
                  <a:pt x="8139385" y="3500586"/>
                </a:lnTo>
                <a:lnTo>
                  <a:pt x="0" y="3500586"/>
                </a:lnTo>
                <a:lnTo>
                  <a:pt x="0" y="0"/>
                </a:lnTo>
                <a:close/>
              </a:path>
            </a:pathLst>
          </a:custGeom>
          <a:blipFill>
            <a:blip r:embed="rId3"/>
            <a:stretch>
              <a:fillRect l="-548" r="-548"/>
            </a:stretch>
          </a:blipFill>
        </p:spPr>
        <p:txBody>
          <a:bodyPr/>
          <a:lstStyle/>
          <a:p>
            <a:endParaRPr lang="en-IN"/>
          </a:p>
        </p:txBody>
      </p:sp>
      <p:sp>
        <p:nvSpPr>
          <p:cNvPr id="4" name="TextBox 4"/>
          <p:cNvSpPr txBox="1"/>
          <p:nvPr/>
        </p:nvSpPr>
        <p:spPr>
          <a:xfrm>
            <a:off x="1028700" y="561609"/>
            <a:ext cx="11537525" cy="1123315"/>
          </a:xfrm>
          <a:prstGeom prst="rect">
            <a:avLst/>
          </a:prstGeom>
        </p:spPr>
        <p:txBody>
          <a:bodyPr lIns="0" tIns="0" rIns="0" bIns="0" rtlCol="0" anchor="t">
            <a:spAutoFit/>
          </a:bodyPr>
          <a:lstStyle/>
          <a:p>
            <a:pPr marL="0" lvl="0" indent="0" algn="l">
              <a:lnSpc>
                <a:spcPts val="8959"/>
              </a:lnSpc>
              <a:spcBef>
                <a:spcPct val="0"/>
              </a:spcBef>
            </a:pPr>
            <a:r>
              <a:rPr lang="en-US" sz="6399" b="1">
                <a:solidFill>
                  <a:srgbClr val="000000"/>
                </a:solidFill>
                <a:latin typeface="Times New Roman Bold"/>
                <a:ea typeface="Times New Roman Bold"/>
                <a:cs typeface="Times New Roman Bold"/>
                <a:sym typeface="Times New Roman Bold"/>
              </a:rPr>
              <a:t>Data Analysis</a:t>
            </a:r>
          </a:p>
        </p:txBody>
      </p:sp>
      <p:sp>
        <p:nvSpPr>
          <p:cNvPr id="5" name="TextBox 5"/>
          <p:cNvSpPr txBox="1"/>
          <p:nvPr/>
        </p:nvSpPr>
        <p:spPr>
          <a:xfrm>
            <a:off x="304800" y="2019547"/>
            <a:ext cx="8991601" cy="4171014"/>
          </a:xfrm>
          <a:prstGeom prst="rect">
            <a:avLst/>
          </a:prstGeom>
        </p:spPr>
        <p:txBody>
          <a:bodyPr wrap="square" lIns="0" tIns="0" rIns="0" bIns="0" rtlCol="0" anchor="t">
            <a:spAutoFit/>
          </a:bodyPr>
          <a:lstStyle/>
          <a:p>
            <a:pPr algn="l">
              <a:lnSpc>
                <a:spcPts val="4079"/>
              </a:lnSpc>
            </a:pPr>
            <a:r>
              <a:rPr lang="en-US" sz="3200" b="1" dirty="0">
                <a:solidFill>
                  <a:srgbClr val="000000"/>
                </a:solidFill>
                <a:latin typeface="Times New Roman Bold"/>
                <a:ea typeface="Times New Roman Bold"/>
                <a:cs typeface="Times New Roman Bold"/>
                <a:sym typeface="Times New Roman Bold"/>
              </a:rPr>
              <a:t>It explored </a:t>
            </a:r>
          </a:p>
          <a:p>
            <a:pPr marL="518160" lvl="1" indent="-259080" algn="l">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Class distribution (</a:t>
            </a:r>
            <a:r>
              <a:rPr lang="en-US" sz="3200" b="1" dirty="0" err="1">
                <a:solidFill>
                  <a:srgbClr val="000000"/>
                </a:solidFill>
                <a:latin typeface="Times New Roman Bold"/>
                <a:ea typeface="Times New Roman Bold"/>
                <a:cs typeface="Times New Roman Bold"/>
                <a:sym typeface="Times New Roman Bold"/>
              </a:rPr>
              <a:t>Diasease</a:t>
            </a:r>
            <a:r>
              <a:rPr lang="en-US" sz="3200" b="1" dirty="0">
                <a:solidFill>
                  <a:srgbClr val="000000"/>
                </a:solidFill>
                <a:latin typeface="Times New Roman Bold"/>
                <a:ea typeface="Times New Roman Bold"/>
                <a:cs typeface="Times New Roman Bold"/>
                <a:sym typeface="Times New Roman Bold"/>
              </a:rPr>
              <a:t> Vs Healthy leaves)</a:t>
            </a:r>
          </a:p>
          <a:p>
            <a:pPr marL="518160" lvl="1" indent="-259080" algn="l">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Plant disease relationship (Plants prone to certain diseases)</a:t>
            </a:r>
          </a:p>
          <a:p>
            <a:pPr marL="518160" lvl="1" indent="-259080" algn="l">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Environmental analysis</a:t>
            </a:r>
          </a:p>
          <a:p>
            <a:pPr marL="518160" lvl="1" indent="-259080" algn="l">
              <a:lnSpc>
                <a:spcPts val="4079"/>
              </a:lnSpc>
              <a:buFont typeface="Arial"/>
              <a:buChar char="•"/>
            </a:pPr>
            <a:r>
              <a:rPr lang="en-US" sz="3200" b="1" dirty="0" err="1">
                <a:solidFill>
                  <a:srgbClr val="000000"/>
                </a:solidFill>
                <a:latin typeface="Times New Roman Bold"/>
                <a:ea typeface="Times New Roman Bold"/>
                <a:cs typeface="Times New Roman Bold"/>
                <a:sym typeface="Times New Roman Bold"/>
              </a:rPr>
              <a:t>Incorresct</a:t>
            </a:r>
            <a:r>
              <a:rPr lang="en-US" sz="3200" b="1" dirty="0">
                <a:solidFill>
                  <a:srgbClr val="000000"/>
                </a:solidFill>
                <a:latin typeface="Times New Roman Bold"/>
                <a:ea typeface="Times New Roman Bold"/>
                <a:cs typeface="Times New Roman Bold"/>
                <a:sym typeface="Times New Roman Bold"/>
              </a:rPr>
              <a:t> labeled detection </a:t>
            </a:r>
          </a:p>
          <a:p>
            <a:pPr marL="518160" lvl="1" indent="-259080" algn="l">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Quality and diversity check of dataset</a:t>
            </a:r>
          </a:p>
          <a:p>
            <a:pPr marL="518160" lvl="1" indent="-259080" algn="l">
              <a:lnSpc>
                <a:spcPts val="4079"/>
              </a:lnSpc>
              <a:buFont typeface="Arial"/>
              <a:buChar char="•"/>
            </a:pPr>
            <a:r>
              <a:rPr lang="en-US" sz="3200" b="1" dirty="0">
                <a:solidFill>
                  <a:srgbClr val="000000"/>
                </a:solidFill>
                <a:latin typeface="Times New Roman Bold"/>
                <a:ea typeface="Times New Roman Bold"/>
                <a:cs typeface="Times New Roman Bold"/>
                <a:sym typeface="Times New Roman Bold"/>
              </a:rPr>
              <a:t>Variations in leaf type </a:t>
            </a:r>
            <a:r>
              <a:rPr lang="en-US" sz="3200" b="1" dirty="0" err="1">
                <a:solidFill>
                  <a:srgbClr val="000000"/>
                </a:solidFill>
                <a:latin typeface="Times New Roman Bold"/>
                <a:ea typeface="Times New Roman Bold"/>
                <a:cs typeface="Times New Roman Bold"/>
                <a:sym typeface="Times New Roman Bold"/>
              </a:rPr>
              <a:t>colour</a:t>
            </a:r>
            <a:r>
              <a:rPr lang="en-US" sz="3200" b="1" dirty="0">
                <a:solidFill>
                  <a:srgbClr val="000000"/>
                </a:solidFill>
                <a:latin typeface="Times New Roman Bold"/>
                <a:ea typeface="Times New Roman Bold"/>
                <a:cs typeface="Times New Roman Bold"/>
                <a:sym typeface="Times New Roman Bold"/>
              </a:rPr>
              <a:t> </a:t>
            </a:r>
          </a:p>
        </p:txBody>
      </p:sp>
      <p:sp>
        <p:nvSpPr>
          <p:cNvPr id="6" name="TextBox 6"/>
          <p:cNvSpPr txBox="1"/>
          <p:nvPr/>
        </p:nvSpPr>
        <p:spPr>
          <a:xfrm>
            <a:off x="4945621" y="6694575"/>
            <a:ext cx="3703681" cy="2569614"/>
          </a:xfrm>
          <a:prstGeom prst="rect">
            <a:avLst/>
          </a:prstGeom>
        </p:spPr>
        <p:txBody>
          <a:bodyPr wrap="square" lIns="0" tIns="0" rIns="0" bIns="0" rtlCol="0" anchor="t">
            <a:spAutoFit/>
          </a:bodyPr>
          <a:lstStyle/>
          <a:p>
            <a:pPr algn="l">
              <a:lnSpc>
                <a:spcPts val="4079"/>
              </a:lnSpc>
            </a:pPr>
            <a:r>
              <a:rPr lang="en-US" sz="2400" b="1" dirty="0">
                <a:solidFill>
                  <a:srgbClr val="000000"/>
                </a:solidFill>
                <a:latin typeface="Times New Roman Bold"/>
                <a:ea typeface="Times New Roman Bold"/>
                <a:cs typeface="Times New Roman Bold"/>
                <a:sym typeface="Times New Roman Bold"/>
              </a:rPr>
              <a:t>Four major categories</a:t>
            </a:r>
          </a:p>
          <a:p>
            <a:pPr marL="518160" lvl="1" indent="-259080" algn="l">
              <a:lnSpc>
                <a:spcPts val="4079"/>
              </a:lnSpc>
              <a:buFont typeface="Arial"/>
              <a:buChar char="•"/>
            </a:pPr>
            <a:r>
              <a:rPr lang="en-US" sz="2400" b="1" dirty="0">
                <a:solidFill>
                  <a:srgbClr val="000000"/>
                </a:solidFill>
                <a:latin typeface="Times New Roman Bold"/>
                <a:ea typeface="Times New Roman Bold"/>
                <a:cs typeface="Times New Roman Bold"/>
                <a:sym typeface="Times New Roman Bold"/>
              </a:rPr>
              <a:t>Viral infections</a:t>
            </a:r>
          </a:p>
          <a:p>
            <a:pPr marL="518160" lvl="1" indent="-259080" algn="l">
              <a:lnSpc>
                <a:spcPts val="4079"/>
              </a:lnSpc>
              <a:buFont typeface="Arial"/>
              <a:buChar char="•"/>
            </a:pPr>
            <a:r>
              <a:rPr lang="en-US" sz="2400" b="1" dirty="0">
                <a:solidFill>
                  <a:srgbClr val="000000"/>
                </a:solidFill>
                <a:latin typeface="Times New Roman Bold"/>
                <a:ea typeface="Times New Roman Bold"/>
                <a:cs typeface="Times New Roman Bold"/>
                <a:sym typeface="Times New Roman Bold"/>
              </a:rPr>
              <a:t>Bacterial infections </a:t>
            </a:r>
          </a:p>
          <a:p>
            <a:pPr marL="518160" lvl="1" indent="-259080" algn="l">
              <a:lnSpc>
                <a:spcPts val="4079"/>
              </a:lnSpc>
              <a:buFont typeface="Arial"/>
              <a:buChar char="•"/>
            </a:pPr>
            <a:r>
              <a:rPr lang="en-US" sz="2400" b="1" dirty="0">
                <a:solidFill>
                  <a:srgbClr val="000000"/>
                </a:solidFill>
                <a:latin typeface="Times New Roman Bold"/>
                <a:ea typeface="Times New Roman Bold"/>
                <a:cs typeface="Times New Roman Bold"/>
                <a:sym typeface="Times New Roman Bold"/>
              </a:rPr>
              <a:t>Fungal infections </a:t>
            </a:r>
          </a:p>
          <a:p>
            <a:pPr marL="518160" lvl="1" indent="-259080" algn="l">
              <a:lnSpc>
                <a:spcPts val="4079"/>
              </a:lnSpc>
              <a:buFont typeface="Arial"/>
              <a:buChar char="•"/>
            </a:pPr>
            <a:r>
              <a:rPr lang="en-US" sz="2400" b="1" dirty="0">
                <a:solidFill>
                  <a:srgbClr val="000000"/>
                </a:solidFill>
                <a:latin typeface="Times New Roman Bold"/>
                <a:ea typeface="Times New Roman Bold"/>
                <a:cs typeface="Times New Roman Bold"/>
                <a:sym typeface="Times New Roman Bold"/>
              </a:rPr>
              <a:t>Pest induced damage </a:t>
            </a:r>
          </a:p>
        </p:txBody>
      </p:sp>
      <p:sp>
        <p:nvSpPr>
          <p:cNvPr id="7" name="AutoShape 7"/>
          <p:cNvSpPr/>
          <p:nvPr/>
        </p:nvSpPr>
        <p:spPr>
          <a:xfrm>
            <a:off x="871327" y="9567816"/>
            <a:ext cx="6492240" cy="0"/>
          </a:xfrm>
          <a:prstGeom prst="line">
            <a:avLst/>
          </a:prstGeom>
          <a:ln w="76200" cap="flat">
            <a:solidFill>
              <a:srgbClr val="0F4662"/>
            </a:solidFill>
            <a:prstDash val="solid"/>
            <a:headEnd type="none" w="sm" len="sm"/>
            <a:tailEnd type="none" w="sm" len="sm"/>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Freeform 2"/>
          <p:cNvSpPr/>
          <p:nvPr/>
        </p:nvSpPr>
        <p:spPr>
          <a:xfrm>
            <a:off x="10810466" y="1693464"/>
            <a:ext cx="7137651" cy="4780748"/>
          </a:xfrm>
          <a:custGeom>
            <a:avLst/>
            <a:gdLst/>
            <a:ahLst/>
            <a:cxnLst/>
            <a:rect l="l" t="t" r="r" b="b"/>
            <a:pathLst>
              <a:path w="6648441" h="3978892">
                <a:moveTo>
                  <a:pt x="0" y="0"/>
                </a:moveTo>
                <a:lnTo>
                  <a:pt x="6648442" y="0"/>
                </a:lnTo>
                <a:lnTo>
                  <a:pt x="6648442" y="3978892"/>
                </a:lnTo>
                <a:lnTo>
                  <a:pt x="0" y="3978892"/>
                </a:lnTo>
                <a:lnTo>
                  <a:pt x="0" y="0"/>
                </a:lnTo>
                <a:close/>
              </a:path>
            </a:pathLst>
          </a:custGeom>
          <a:blipFill>
            <a:blip r:embed="rId2"/>
            <a:stretch>
              <a:fillRect l="-4965" r="-14895"/>
            </a:stretch>
          </a:blipFill>
        </p:spPr>
        <p:txBody>
          <a:bodyPr/>
          <a:lstStyle/>
          <a:p>
            <a:endParaRPr lang="en-IN"/>
          </a:p>
        </p:txBody>
      </p:sp>
      <p:sp>
        <p:nvSpPr>
          <p:cNvPr id="3" name="TextBox 3"/>
          <p:cNvSpPr txBox="1"/>
          <p:nvPr/>
        </p:nvSpPr>
        <p:spPr>
          <a:xfrm>
            <a:off x="3733800" y="41474"/>
            <a:ext cx="7625580" cy="1057982"/>
          </a:xfrm>
          <a:prstGeom prst="rect">
            <a:avLst/>
          </a:prstGeom>
        </p:spPr>
        <p:txBody>
          <a:bodyPr lIns="0" tIns="0" rIns="0" bIns="0" rtlCol="0" anchor="t">
            <a:spAutoFit/>
          </a:bodyPr>
          <a:lstStyle/>
          <a:p>
            <a:pPr marL="0" lvl="0" indent="0" algn="l">
              <a:lnSpc>
                <a:spcPts val="8959"/>
              </a:lnSpc>
              <a:spcBef>
                <a:spcPct val="0"/>
              </a:spcBef>
            </a:pPr>
            <a:r>
              <a:rPr lang="en-US" sz="6399" b="1" dirty="0">
                <a:solidFill>
                  <a:srgbClr val="000000"/>
                </a:solidFill>
                <a:latin typeface="Times New Roman Bold"/>
                <a:ea typeface="Times New Roman Bold"/>
                <a:cs typeface="Times New Roman Bold"/>
                <a:sym typeface="Times New Roman Bold"/>
              </a:rPr>
              <a:t>Results &amp; Findings </a:t>
            </a:r>
          </a:p>
        </p:txBody>
      </p:sp>
      <p:sp>
        <p:nvSpPr>
          <p:cNvPr id="4" name="TextBox 4"/>
          <p:cNvSpPr txBox="1"/>
          <p:nvPr/>
        </p:nvSpPr>
        <p:spPr>
          <a:xfrm>
            <a:off x="10641319" y="7124700"/>
            <a:ext cx="7165818" cy="1707199"/>
          </a:xfrm>
          <a:prstGeom prst="rect">
            <a:avLst/>
          </a:prstGeom>
        </p:spPr>
        <p:txBody>
          <a:bodyPr wrap="square" lIns="0" tIns="0" rIns="0" bIns="0" rtlCol="0" anchor="t">
            <a:spAutoFit/>
          </a:bodyPr>
          <a:lstStyle/>
          <a:p>
            <a:pPr algn="just">
              <a:lnSpc>
                <a:spcPts val="3359"/>
              </a:lnSpc>
              <a:spcBef>
                <a:spcPct val="0"/>
              </a:spcBef>
            </a:pPr>
            <a:r>
              <a:rPr lang="en-US" sz="2400" b="1" dirty="0">
                <a:solidFill>
                  <a:srgbClr val="000000"/>
                </a:solidFill>
                <a:latin typeface="Times New Roman Bold"/>
                <a:ea typeface="Times New Roman Bold"/>
                <a:cs typeface="Times New Roman Bold"/>
                <a:sym typeface="Times New Roman Bold"/>
              </a:rPr>
              <a:t>The comparative performance of deep learning and hybrid models for multi-class plant disease classification.</a:t>
            </a:r>
          </a:p>
          <a:p>
            <a:pPr algn="just">
              <a:lnSpc>
                <a:spcPts val="3359"/>
              </a:lnSpc>
              <a:spcBef>
                <a:spcPct val="0"/>
              </a:spcBef>
            </a:pPr>
            <a:endParaRPr lang="en-US" sz="2400" b="1" dirty="0">
              <a:solidFill>
                <a:srgbClr val="000000"/>
              </a:solidFill>
              <a:latin typeface="Times New Roman Bold"/>
              <a:ea typeface="Times New Roman Bold"/>
              <a:cs typeface="Times New Roman Bold"/>
              <a:sym typeface="Times New Roman Bold"/>
            </a:endParaRPr>
          </a:p>
        </p:txBody>
      </p:sp>
      <p:sp>
        <p:nvSpPr>
          <p:cNvPr id="5" name="TextBox 5"/>
          <p:cNvSpPr txBox="1"/>
          <p:nvPr/>
        </p:nvSpPr>
        <p:spPr>
          <a:xfrm>
            <a:off x="339882" y="1693464"/>
            <a:ext cx="9566748" cy="6976269"/>
          </a:xfrm>
          <a:prstGeom prst="rect">
            <a:avLst/>
          </a:prstGeom>
        </p:spPr>
        <p:txBody>
          <a:bodyPr lIns="0" tIns="0" rIns="0" bIns="0" rtlCol="0" anchor="t">
            <a:spAutoFit/>
          </a:bodyPr>
          <a:lstStyle/>
          <a:p>
            <a:pPr marL="518160" lvl="1" indent="-259080" algn="just">
              <a:lnSpc>
                <a:spcPts val="3359"/>
              </a:lnSpc>
              <a:buFont typeface="Arial"/>
              <a:buChar char="•"/>
            </a:pPr>
            <a:r>
              <a:rPr lang="en-US" sz="3200" b="1" dirty="0" err="1">
                <a:solidFill>
                  <a:srgbClr val="000000"/>
                </a:solidFill>
                <a:latin typeface="Times New Roman Bold"/>
                <a:ea typeface="Times New Roman Bold"/>
                <a:cs typeface="Times New Roman Bold"/>
                <a:sym typeface="Times New Roman Bold"/>
              </a:rPr>
              <a:t>Xception</a:t>
            </a:r>
            <a:r>
              <a:rPr lang="en-US" sz="3200" b="1" dirty="0">
                <a:solidFill>
                  <a:srgbClr val="000000"/>
                </a:solidFill>
                <a:latin typeface="Times New Roman Bold"/>
                <a:ea typeface="Times New Roman Bold"/>
                <a:cs typeface="Times New Roman Bold"/>
                <a:sym typeface="Times New Roman Bold"/>
              </a:rPr>
              <a:t> achieved the highest accuracy (95.83%), with consistently high precision and recall, showing strong and reliable classification across all plant disease classes.</a:t>
            </a:r>
          </a:p>
          <a:p>
            <a:pPr marL="518160" lvl="1" indent="-259080" algn="just">
              <a:lnSpc>
                <a:spcPts val="3359"/>
              </a:lnSpc>
              <a:buFont typeface="Arial"/>
              <a:buChar char="•"/>
            </a:pPr>
            <a:r>
              <a:rPr lang="en-US" sz="3200" b="1" dirty="0">
                <a:solidFill>
                  <a:srgbClr val="000000"/>
                </a:solidFill>
                <a:latin typeface="Times New Roman Bold"/>
                <a:ea typeface="Times New Roman Bold"/>
                <a:cs typeface="Times New Roman Bold"/>
                <a:sym typeface="Times New Roman Bold"/>
              </a:rPr>
              <a:t>ResNet-50 + SVM produced the second-best accuracy (91.20%), proving that using deep feature extraction + SVM improves classification compared to normal SoftMax output.</a:t>
            </a:r>
          </a:p>
          <a:p>
            <a:pPr marL="518160" lvl="1" indent="-259080" algn="just">
              <a:lnSpc>
                <a:spcPts val="3359"/>
              </a:lnSpc>
              <a:buFont typeface="Arial"/>
              <a:buChar char="•"/>
            </a:pPr>
            <a:r>
              <a:rPr lang="en-US" sz="3200" b="1" dirty="0">
                <a:solidFill>
                  <a:srgbClr val="000000"/>
                </a:solidFill>
                <a:latin typeface="Times New Roman Bold"/>
                <a:ea typeface="Times New Roman Bold"/>
                <a:cs typeface="Times New Roman Bold"/>
                <a:sym typeface="Times New Roman Bold"/>
              </a:rPr>
              <a:t>Among transfer learning models, VGG-16 (84.00%) and Inception-ResNet-V2 (83.00%) showed similar performance, confirming that pretrained CNNs work well even with limited training.</a:t>
            </a:r>
          </a:p>
          <a:p>
            <a:pPr marL="518160" lvl="1" indent="-259080" algn="just">
              <a:lnSpc>
                <a:spcPts val="3359"/>
              </a:lnSpc>
              <a:buFont typeface="Arial"/>
              <a:buChar char="•"/>
            </a:pPr>
            <a:r>
              <a:rPr lang="en-US" sz="3200" b="1" dirty="0">
                <a:solidFill>
                  <a:srgbClr val="000000"/>
                </a:solidFill>
                <a:latin typeface="Times New Roman Bold"/>
                <a:ea typeface="Times New Roman Bold"/>
                <a:cs typeface="Times New Roman Bold"/>
                <a:sym typeface="Times New Roman Bold"/>
              </a:rPr>
              <a:t>The custom-designed CNNs, BPCNN-9 (82.00%) and DCNN (78.00%) achieved moderate accuracy, showing that training from scratch is possible but less effective than transfer learning.</a:t>
            </a:r>
          </a:p>
        </p:txBody>
      </p:sp>
      <p:sp>
        <p:nvSpPr>
          <p:cNvPr id="6" name="AutoShape 6"/>
          <p:cNvSpPr/>
          <p:nvPr/>
        </p:nvSpPr>
        <p:spPr>
          <a:xfrm>
            <a:off x="680587" y="9220200"/>
            <a:ext cx="6492240" cy="0"/>
          </a:xfrm>
          <a:prstGeom prst="line">
            <a:avLst/>
          </a:prstGeom>
          <a:ln w="76200" cap="flat">
            <a:solidFill>
              <a:srgbClr val="0F4662"/>
            </a:solidFill>
            <a:prstDash val="solid"/>
            <a:headEnd type="none" w="sm" len="sm"/>
            <a:tailEnd type="none" w="sm" len="sm"/>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graphicFrame>
        <p:nvGraphicFramePr>
          <p:cNvPr id="2" name="Object 2"/>
          <p:cNvGraphicFramePr/>
          <p:nvPr>
            <p:extLst>
              <p:ext uri="{D42A27DB-BD31-4B8C-83A1-F6EECF244321}">
                <p14:modId xmlns:p14="http://schemas.microsoft.com/office/powerpoint/2010/main" val="682442139"/>
              </p:ext>
            </p:extLst>
          </p:nvPr>
        </p:nvGraphicFramePr>
        <p:xfrm>
          <a:off x="-457200" y="587084"/>
          <a:ext cx="11125200" cy="9699916"/>
        </p:xfrm>
        <a:graphic>
          <a:graphicData uri="http://schemas.openxmlformats.org/presentationml/2006/ole">
            <mc:AlternateContent xmlns:mc="http://schemas.openxmlformats.org/markup-compatibility/2006">
              <mc:Choice xmlns:v="urn:schemas-microsoft-com:vml" Requires="v">
                <p:oleObj name="Worksheet" r:id="rId2" imgW="9042400" imgH="7785100" progId="Excel.Sheet.12">
                  <p:embed/>
                </p:oleObj>
              </mc:Choice>
              <mc:Fallback>
                <p:oleObj name="Worksheet" r:id="rId2" imgW="9042400" imgH="7785100" progId="Excel.Sheet.12">
                  <p:embed/>
                  <p:pic>
                    <p:nvPicPr>
                      <p:cNvPr id="0" name=""/>
                      <p:cNvPicPr/>
                      <p:nvPr/>
                    </p:nvPicPr>
                    <p:blipFill>
                      <a:blip r:embed="rId3"/>
                      <a:stretch>
                        <a:fillRect/>
                      </a:stretch>
                    </p:blipFill>
                    <p:spPr>
                      <a:xfrm>
                        <a:off x="-457200" y="587084"/>
                        <a:ext cx="11125200" cy="9699916"/>
                      </a:xfrm>
                      <a:prstGeom prst="rect">
                        <a:avLst/>
                      </a:prstGeom>
                    </p:spPr>
                  </p:pic>
                </p:oleObj>
              </mc:Fallback>
            </mc:AlternateContent>
          </a:graphicData>
        </a:graphic>
      </p:graphicFrame>
      <p:sp>
        <p:nvSpPr>
          <p:cNvPr id="3" name="Freeform 3"/>
          <p:cNvSpPr/>
          <p:nvPr/>
        </p:nvSpPr>
        <p:spPr>
          <a:xfrm>
            <a:off x="9540511" y="2133172"/>
            <a:ext cx="8137889" cy="6667928"/>
          </a:xfrm>
          <a:custGeom>
            <a:avLst/>
            <a:gdLst/>
            <a:ahLst/>
            <a:cxnLst/>
            <a:rect l="l" t="t" r="r" b="b"/>
            <a:pathLst>
              <a:path w="7718789" h="6020655">
                <a:moveTo>
                  <a:pt x="0" y="0"/>
                </a:moveTo>
                <a:lnTo>
                  <a:pt x="7718789" y="0"/>
                </a:lnTo>
                <a:lnTo>
                  <a:pt x="7718789" y="6020656"/>
                </a:lnTo>
                <a:lnTo>
                  <a:pt x="0" y="6020656"/>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3200400" y="142509"/>
            <a:ext cx="11534821" cy="988284"/>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000000"/>
                </a:solidFill>
                <a:latin typeface="Times New Roman Bold"/>
                <a:ea typeface="Times New Roman Bold"/>
                <a:cs typeface="Times New Roman Bold"/>
                <a:sym typeface="Times New Roman Bold"/>
              </a:rPr>
              <a:t>Results &amp; Findings</a:t>
            </a:r>
          </a:p>
        </p:txBody>
      </p:sp>
      <p:sp>
        <p:nvSpPr>
          <p:cNvPr id="5" name="AutoShape 5"/>
          <p:cNvSpPr/>
          <p:nvPr/>
        </p:nvSpPr>
        <p:spPr>
          <a:xfrm>
            <a:off x="766552" y="9296400"/>
            <a:ext cx="6492240" cy="0"/>
          </a:xfrm>
          <a:prstGeom prst="line">
            <a:avLst/>
          </a:prstGeom>
          <a:ln w="76200" cap="flat">
            <a:solidFill>
              <a:srgbClr val="0F4662"/>
            </a:solidFill>
            <a:prstDash val="solid"/>
            <a:headEnd type="none" w="sm" len="sm"/>
            <a:tailEnd type="none" w="sm" len="sm"/>
          </a:ln>
        </p:spPr>
        <p:txBody>
          <a:bodyPr/>
          <a:lstStyle/>
          <a:p>
            <a:endParaRPr lang="en-IN"/>
          </a:p>
        </p:txBody>
      </p:sp>
      <p:sp>
        <p:nvSpPr>
          <p:cNvPr id="6" name="Freeform 6"/>
          <p:cNvSpPr/>
          <p:nvPr/>
        </p:nvSpPr>
        <p:spPr>
          <a:xfrm>
            <a:off x="14432385" y="587083"/>
            <a:ext cx="2968854" cy="441617"/>
          </a:xfrm>
          <a:custGeom>
            <a:avLst/>
            <a:gdLst/>
            <a:ahLst/>
            <a:cxnLst/>
            <a:rect l="l" t="t" r="r" b="b"/>
            <a:pathLst>
              <a:path w="2968854" h="441617">
                <a:moveTo>
                  <a:pt x="0" y="0"/>
                </a:moveTo>
                <a:lnTo>
                  <a:pt x="2968854" y="0"/>
                </a:lnTo>
                <a:lnTo>
                  <a:pt x="2968854" y="441617"/>
                </a:lnTo>
                <a:lnTo>
                  <a:pt x="0" y="4416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5562600" y="274491"/>
            <a:ext cx="11534821" cy="1066800"/>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000000"/>
                </a:solidFill>
                <a:latin typeface="Times New Roman Bold"/>
                <a:ea typeface="Times New Roman Bold"/>
                <a:cs typeface="Times New Roman Bold"/>
                <a:sym typeface="Times New Roman Bold"/>
              </a:rPr>
              <a:t>Discussion</a:t>
            </a:r>
          </a:p>
        </p:txBody>
      </p:sp>
      <p:sp>
        <p:nvSpPr>
          <p:cNvPr id="3" name="TextBox 3"/>
          <p:cNvSpPr txBox="1"/>
          <p:nvPr/>
        </p:nvSpPr>
        <p:spPr>
          <a:xfrm>
            <a:off x="1028700" y="2078206"/>
            <a:ext cx="17030700" cy="6079357"/>
          </a:xfrm>
          <a:prstGeom prst="rect">
            <a:avLst/>
          </a:prstGeom>
        </p:spPr>
        <p:txBody>
          <a:bodyPr wrap="square" lIns="0" tIns="0" rIns="0" bIns="0" rtlCol="0" anchor="t">
            <a:spAutoFit/>
          </a:bodyPr>
          <a:lstStyle/>
          <a:p>
            <a:pPr marL="518160" lvl="1" indent="-259080" algn="just">
              <a:lnSpc>
                <a:spcPts val="3359"/>
              </a:lnSpc>
              <a:buFont typeface="Arial"/>
              <a:buChar char="•"/>
            </a:pPr>
            <a:r>
              <a:rPr lang="en-US" sz="2800" b="1" dirty="0">
                <a:solidFill>
                  <a:srgbClr val="000000"/>
                </a:solidFill>
                <a:latin typeface="Times New Roman Bold"/>
                <a:ea typeface="Times New Roman Bold"/>
                <a:cs typeface="Times New Roman Bold"/>
                <a:sym typeface="Times New Roman Bold"/>
              </a:rPr>
              <a:t>The experimental results demonstrate that deep learning–based approaches are highly effective for multi-class plant disease classification. </a:t>
            </a:r>
          </a:p>
          <a:p>
            <a:pPr marL="518160" lvl="1" indent="-259080" algn="just">
              <a:lnSpc>
                <a:spcPts val="3359"/>
              </a:lnSpc>
              <a:buFont typeface="Arial"/>
              <a:buChar char="•"/>
            </a:pPr>
            <a:r>
              <a:rPr lang="en-US" sz="2800" b="1" dirty="0">
                <a:solidFill>
                  <a:srgbClr val="000000"/>
                </a:solidFill>
                <a:latin typeface="Times New Roman Bold"/>
                <a:ea typeface="Times New Roman Bold"/>
                <a:cs typeface="Times New Roman Bold"/>
                <a:sym typeface="Times New Roman Bold"/>
              </a:rPr>
              <a:t>The </a:t>
            </a:r>
            <a:r>
              <a:rPr lang="en-US" sz="2800" b="1" dirty="0" err="1">
                <a:solidFill>
                  <a:srgbClr val="000000"/>
                </a:solidFill>
                <a:latin typeface="Times New Roman Bold"/>
                <a:ea typeface="Times New Roman Bold"/>
                <a:cs typeface="Times New Roman Bold"/>
                <a:sym typeface="Times New Roman Bold"/>
              </a:rPr>
              <a:t>Xception</a:t>
            </a:r>
            <a:r>
              <a:rPr lang="en-US" sz="2800" b="1" dirty="0">
                <a:solidFill>
                  <a:srgbClr val="000000"/>
                </a:solidFill>
                <a:latin typeface="Times New Roman Bold"/>
                <a:ea typeface="Times New Roman Bold"/>
                <a:cs typeface="Times New Roman Bold"/>
                <a:sym typeface="Times New Roman Bold"/>
              </a:rPr>
              <a:t> model achieved the highest accuracy of 95.83%, outperforming all other architectures. This superior performance can be attributed to the use of depth wise separable convolutions. </a:t>
            </a:r>
          </a:p>
          <a:p>
            <a:pPr marL="518160" lvl="1" indent="-259080" algn="just">
              <a:lnSpc>
                <a:spcPts val="3359"/>
              </a:lnSpc>
              <a:buFont typeface="Arial"/>
              <a:buChar char="•"/>
            </a:pPr>
            <a:r>
              <a:rPr lang="en-US" sz="2800" b="1" dirty="0">
                <a:solidFill>
                  <a:srgbClr val="000000"/>
                </a:solidFill>
                <a:latin typeface="Times New Roman Bold"/>
                <a:ea typeface="Times New Roman Bold"/>
                <a:cs typeface="Times New Roman Bold"/>
                <a:sym typeface="Times New Roman Bold"/>
              </a:rPr>
              <a:t>The ResNet-50 + SVM hybrid model achieved the second-best performance with 91.20% accuracy, demonstrating the effectiveness of combining deep feature extraction with a classical machine learning classifier. </a:t>
            </a:r>
          </a:p>
          <a:p>
            <a:pPr marL="518160" lvl="1" indent="-259080" algn="just">
              <a:lnSpc>
                <a:spcPts val="3359"/>
              </a:lnSpc>
              <a:buFont typeface="Arial"/>
              <a:buChar char="•"/>
            </a:pPr>
            <a:r>
              <a:rPr lang="en-US" sz="2800" b="1" dirty="0">
                <a:solidFill>
                  <a:srgbClr val="000000"/>
                </a:solidFill>
                <a:latin typeface="Times New Roman Bold"/>
                <a:ea typeface="Times New Roman Bold"/>
                <a:cs typeface="Times New Roman Bold"/>
                <a:sym typeface="Times New Roman Bold"/>
              </a:rPr>
              <a:t>Among the transfer learning models using </a:t>
            </a:r>
            <a:r>
              <a:rPr lang="en-US" sz="2800" b="1" dirty="0" err="1">
                <a:solidFill>
                  <a:srgbClr val="000000"/>
                </a:solidFill>
                <a:latin typeface="Times New Roman Bold"/>
                <a:ea typeface="Times New Roman Bold"/>
                <a:cs typeface="Times New Roman Bold"/>
                <a:sym typeface="Times New Roman Bold"/>
              </a:rPr>
              <a:t>softmax</a:t>
            </a:r>
            <a:r>
              <a:rPr lang="en-US" sz="2800" b="1" dirty="0">
                <a:solidFill>
                  <a:srgbClr val="000000"/>
                </a:solidFill>
                <a:latin typeface="Times New Roman Bold"/>
                <a:ea typeface="Times New Roman Bold"/>
                <a:cs typeface="Times New Roman Bold"/>
                <a:sym typeface="Times New Roman Bold"/>
              </a:rPr>
              <a:t> classifiers, VGG-16 achieved slightly better performance (84.00% accuracy) than Inception-ResNet-V2 (83.00% accuracy).</a:t>
            </a:r>
          </a:p>
          <a:p>
            <a:pPr marL="518160" lvl="1" indent="-259080" algn="just">
              <a:lnSpc>
                <a:spcPts val="3359"/>
              </a:lnSpc>
              <a:buFont typeface="Arial"/>
              <a:buChar char="•"/>
            </a:pPr>
            <a:r>
              <a:rPr lang="en-US" sz="2800" b="1" dirty="0">
                <a:solidFill>
                  <a:srgbClr val="000000"/>
                </a:solidFill>
                <a:latin typeface="Times New Roman Bold"/>
                <a:ea typeface="Times New Roman Bold"/>
                <a:cs typeface="Times New Roman Bold"/>
                <a:sym typeface="Times New Roman Bold"/>
              </a:rPr>
              <a:t>The custom-designed CNN models, BPCNN-9 and DCNN, achieved accuracies of 82.00% and 78.00%, respectively. These results indicate that training CNNs from scratch is feasible but less effective compared to transfer learning, particularly when dataset size and diversity are limited. </a:t>
            </a:r>
          </a:p>
          <a:p>
            <a:pPr marL="518160" lvl="1" indent="-259080" algn="just">
              <a:lnSpc>
                <a:spcPts val="3359"/>
              </a:lnSpc>
              <a:buFont typeface="Arial"/>
              <a:buChar char="•"/>
            </a:pPr>
            <a:r>
              <a:rPr lang="en-US" sz="2800" b="1" dirty="0">
                <a:solidFill>
                  <a:srgbClr val="000000"/>
                </a:solidFill>
                <a:latin typeface="Times New Roman Bold"/>
                <a:ea typeface="Times New Roman Bold"/>
                <a:cs typeface="Times New Roman Bold"/>
                <a:sym typeface="Times New Roman Bold"/>
              </a:rPr>
              <a:t>Overall, the findings emphasize the importance of transfer learning, efficient convolutional architectures, and hybrid classification strategies for automated plant disease detection. </a:t>
            </a:r>
          </a:p>
        </p:txBody>
      </p:sp>
      <p:sp>
        <p:nvSpPr>
          <p:cNvPr id="4" name="Freeform 4"/>
          <p:cNvSpPr/>
          <p:nvPr/>
        </p:nvSpPr>
        <p:spPr>
          <a:xfrm>
            <a:off x="14432385" y="587083"/>
            <a:ext cx="2968854" cy="441617"/>
          </a:xfrm>
          <a:custGeom>
            <a:avLst/>
            <a:gdLst/>
            <a:ahLst/>
            <a:cxnLst/>
            <a:rect l="l" t="t" r="r" b="b"/>
            <a:pathLst>
              <a:path w="2968854" h="441617">
                <a:moveTo>
                  <a:pt x="0" y="0"/>
                </a:moveTo>
                <a:lnTo>
                  <a:pt x="2968854" y="0"/>
                </a:lnTo>
                <a:lnTo>
                  <a:pt x="2968854" y="441617"/>
                </a:lnTo>
                <a:lnTo>
                  <a:pt x="0" y="4416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AutoShape 5"/>
          <p:cNvSpPr/>
          <p:nvPr/>
        </p:nvSpPr>
        <p:spPr>
          <a:xfrm>
            <a:off x="766552" y="9296400"/>
            <a:ext cx="6492240" cy="0"/>
          </a:xfrm>
          <a:prstGeom prst="line">
            <a:avLst/>
          </a:prstGeom>
          <a:ln w="76200" cap="flat">
            <a:solidFill>
              <a:srgbClr val="0F4662"/>
            </a:solidFill>
            <a:prstDash val="solid"/>
            <a:headEnd type="none" w="sm" len="sm"/>
            <a:tailEnd type="none" w="sm" len="sm"/>
          </a:ln>
        </p:spPr>
        <p:txBody>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graphicFrame>
        <p:nvGraphicFramePr>
          <p:cNvPr id="2" name="Object 2"/>
          <p:cNvGraphicFramePr/>
          <p:nvPr>
            <p:extLst>
              <p:ext uri="{D42A27DB-BD31-4B8C-83A1-F6EECF244321}">
                <p14:modId xmlns:p14="http://schemas.microsoft.com/office/powerpoint/2010/main" val="1307157172"/>
              </p:ext>
            </p:extLst>
          </p:nvPr>
        </p:nvGraphicFramePr>
        <p:xfrm>
          <a:off x="2209800" y="4838700"/>
          <a:ext cx="13030199" cy="5278904"/>
        </p:xfrm>
        <a:graphic>
          <a:graphicData uri="http://schemas.openxmlformats.org/presentationml/2006/ole">
            <mc:AlternateContent xmlns:mc="http://schemas.openxmlformats.org/markup-compatibility/2006">
              <mc:Choice xmlns:v="urn:schemas-microsoft-com:vml" Requires="v">
                <p:oleObj name="Worksheet" r:id="rId2" imgW="11315700" imgH="6286500" progId="Excel.Sheet.12">
                  <p:embed/>
                </p:oleObj>
              </mc:Choice>
              <mc:Fallback>
                <p:oleObj name="Worksheet" r:id="rId2" imgW="11315700" imgH="6286500" progId="Excel.Sheet.12">
                  <p:embed/>
                  <p:pic>
                    <p:nvPicPr>
                      <p:cNvPr id="0" name=""/>
                      <p:cNvPicPr/>
                      <p:nvPr/>
                    </p:nvPicPr>
                    <p:blipFill>
                      <a:blip r:embed="rId3"/>
                      <a:stretch>
                        <a:fillRect/>
                      </a:stretch>
                    </p:blipFill>
                    <p:spPr>
                      <a:xfrm>
                        <a:off x="2209800" y="4838700"/>
                        <a:ext cx="13030199" cy="5278904"/>
                      </a:xfrm>
                      <a:prstGeom prst="rect">
                        <a:avLst/>
                      </a:prstGeom>
                    </p:spPr>
                  </p:pic>
                </p:oleObj>
              </mc:Fallback>
            </mc:AlternateContent>
          </a:graphicData>
        </a:graphic>
      </p:graphicFrame>
      <p:sp>
        <p:nvSpPr>
          <p:cNvPr id="3" name="TextBox 3"/>
          <p:cNvSpPr txBox="1"/>
          <p:nvPr/>
        </p:nvSpPr>
        <p:spPr>
          <a:xfrm>
            <a:off x="5844223" y="218709"/>
            <a:ext cx="4214178" cy="988284"/>
          </a:xfrm>
          <a:prstGeom prst="rect">
            <a:avLst/>
          </a:prstGeom>
        </p:spPr>
        <p:txBody>
          <a:bodyPr wrap="square" lIns="0" tIns="0" rIns="0" bIns="0" rtlCol="0" anchor="t">
            <a:spAutoFit/>
          </a:bodyPr>
          <a:lstStyle/>
          <a:p>
            <a:pPr marL="0" lvl="0" indent="0" algn="l">
              <a:lnSpc>
                <a:spcPts val="8400"/>
              </a:lnSpc>
              <a:spcBef>
                <a:spcPct val="0"/>
              </a:spcBef>
            </a:pPr>
            <a:r>
              <a:rPr lang="en-US" sz="6000" b="1" dirty="0">
                <a:solidFill>
                  <a:srgbClr val="000000"/>
                </a:solidFill>
                <a:latin typeface="Times New Roman Bold"/>
                <a:ea typeface="Times New Roman Bold"/>
                <a:cs typeface="Times New Roman Bold"/>
                <a:sym typeface="Times New Roman Bold"/>
              </a:rPr>
              <a:t>Conclusion</a:t>
            </a:r>
          </a:p>
        </p:txBody>
      </p:sp>
      <p:sp>
        <p:nvSpPr>
          <p:cNvPr id="4" name="TextBox 4"/>
          <p:cNvSpPr txBox="1"/>
          <p:nvPr/>
        </p:nvSpPr>
        <p:spPr>
          <a:xfrm>
            <a:off x="838200" y="1697676"/>
            <a:ext cx="16535400" cy="3463256"/>
          </a:xfrm>
          <a:prstGeom prst="rect">
            <a:avLst/>
          </a:prstGeom>
        </p:spPr>
        <p:txBody>
          <a:bodyPr wrap="square" lIns="0" tIns="0" rIns="0" bIns="0" rtlCol="0" anchor="t">
            <a:spAutoFit/>
          </a:bodyPr>
          <a:lstStyle/>
          <a:p>
            <a:pPr marL="518160" lvl="1" indent="-259080" algn="just">
              <a:lnSpc>
                <a:spcPts val="3359"/>
              </a:lnSpc>
              <a:buFont typeface="Arial"/>
              <a:buChar char="•"/>
            </a:pPr>
            <a:r>
              <a:rPr lang="en-US" sz="2800" b="1" dirty="0">
                <a:solidFill>
                  <a:srgbClr val="000000"/>
                </a:solidFill>
                <a:latin typeface="Times New Roman Bold"/>
                <a:ea typeface="Times New Roman Bold"/>
                <a:cs typeface="Times New Roman Bold"/>
                <a:sym typeface="Times New Roman Bold"/>
              </a:rPr>
              <a:t>The present study compared custom CNNs, transfer learning models, and hybrid models for multi-class plant disease classification using leaf images.</a:t>
            </a:r>
          </a:p>
          <a:p>
            <a:pPr marL="518160" lvl="1" indent="-259080" algn="just">
              <a:lnSpc>
                <a:spcPts val="3359"/>
              </a:lnSpc>
              <a:buFont typeface="Arial"/>
              <a:buChar char="•"/>
            </a:pPr>
            <a:r>
              <a:rPr lang="en-US" sz="2800" b="1" dirty="0">
                <a:solidFill>
                  <a:srgbClr val="000000"/>
                </a:solidFill>
                <a:latin typeface="Times New Roman Bold"/>
                <a:ea typeface="Times New Roman Bold"/>
                <a:cs typeface="Times New Roman Bold"/>
                <a:sym typeface="Times New Roman Bold"/>
              </a:rPr>
              <a:t>Transfer learning performed better than training from scratch, proving pretrained features are important for agricultural image datasets.</a:t>
            </a:r>
          </a:p>
          <a:p>
            <a:pPr marL="518160" lvl="1" indent="-259080" algn="just">
              <a:lnSpc>
                <a:spcPts val="3359"/>
              </a:lnSpc>
              <a:buFont typeface="Arial"/>
              <a:buChar char="•"/>
            </a:pPr>
            <a:r>
              <a:rPr lang="en-US" sz="2800" b="1" dirty="0" err="1">
                <a:solidFill>
                  <a:srgbClr val="000000"/>
                </a:solidFill>
                <a:latin typeface="Times New Roman Bold"/>
                <a:ea typeface="Times New Roman Bold"/>
                <a:cs typeface="Times New Roman Bold"/>
                <a:sym typeface="Times New Roman Bold"/>
              </a:rPr>
              <a:t>Xception</a:t>
            </a:r>
            <a:r>
              <a:rPr lang="en-US" sz="2800" b="1" dirty="0">
                <a:solidFill>
                  <a:srgbClr val="000000"/>
                </a:solidFill>
                <a:latin typeface="Times New Roman Bold"/>
                <a:ea typeface="Times New Roman Bold"/>
                <a:cs typeface="Times New Roman Bold"/>
                <a:sym typeface="Times New Roman Bold"/>
              </a:rPr>
              <a:t> achieved the best accuracy (95.83%), and ResNet-50 + SVM also performed strongly, showing hybrid deep learning + ML improves robustness.</a:t>
            </a:r>
          </a:p>
          <a:p>
            <a:pPr marL="518160" lvl="1" indent="-259080" algn="just">
              <a:lnSpc>
                <a:spcPts val="3359"/>
              </a:lnSpc>
              <a:buFont typeface="Arial"/>
              <a:buChar char="•"/>
            </a:pPr>
            <a:r>
              <a:rPr lang="en-US" sz="2800" b="1" dirty="0">
                <a:solidFill>
                  <a:srgbClr val="000000"/>
                </a:solidFill>
                <a:latin typeface="Times New Roman Bold"/>
                <a:ea typeface="Times New Roman Bold"/>
                <a:cs typeface="Times New Roman Bold"/>
                <a:sym typeface="Times New Roman Bold"/>
              </a:rPr>
              <a:t>The framework shows strong potential for automated plant disease diagnosis, and future work can focus on lightweight real-time models, handling class imbalance, and field deployment.</a:t>
            </a:r>
          </a:p>
        </p:txBody>
      </p:sp>
      <p:sp>
        <p:nvSpPr>
          <p:cNvPr id="5" name="AutoShape 5"/>
          <p:cNvSpPr/>
          <p:nvPr/>
        </p:nvSpPr>
        <p:spPr>
          <a:xfrm>
            <a:off x="11053608" y="752109"/>
            <a:ext cx="6492240" cy="0"/>
          </a:xfrm>
          <a:prstGeom prst="line">
            <a:avLst/>
          </a:prstGeom>
          <a:ln w="76200" cap="flat">
            <a:solidFill>
              <a:srgbClr val="0F4662"/>
            </a:solidFill>
            <a:prstDash val="solid"/>
            <a:headEnd type="none" w="sm" len="sm"/>
            <a:tailEnd type="none" w="sm" len="sm"/>
          </a:ln>
        </p:spPr>
        <p:txBody>
          <a:bodyPr/>
          <a:lstStyle/>
          <a:p>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6477000" y="156461"/>
            <a:ext cx="11534821" cy="1066800"/>
          </a:xfrm>
          <a:prstGeom prst="rect">
            <a:avLst/>
          </a:prstGeom>
        </p:spPr>
        <p:txBody>
          <a:bodyPr lIns="0" tIns="0" rIns="0" bIns="0" rtlCol="0" anchor="t">
            <a:spAutoFit/>
          </a:bodyPr>
          <a:lstStyle/>
          <a:p>
            <a:pPr marL="0" lvl="0" indent="0" algn="l">
              <a:lnSpc>
                <a:spcPts val="8400"/>
              </a:lnSpc>
              <a:spcBef>
                <a:spcPct val="0"/>
              </a:spcBef>
            </a:pPr>
            <a:r>
              <a:rPr lang="en-US" sz="6000" b="1">
                <a:solidFill>
                  <a:srgbClr val="000000"/>
                </a:solidFill>
                <a:latin typeface="Times New Roman Bold"/>
                <a:ea typeface="Times New Roman Bold"/>
                <a:cs typeface="Times New Roman Bold"/>
                <a:sym typeface="Times New Roman Bold"/>
              </a:rPr>
              <a:t>Future Scope </a:t>
            </a:r>
          </a:p>
        </p:txBody>
      </p:sp>
      <p:sp>
        <p:nvSpPr>
          <p:cNvPr id="3" name="TextBox 3"/>
          <p:cNvSpPr txBox="1"/>
          <p:nvPr/>
        </p:nvSpPr>
        <p:spPr>
          <a:xfrm>
            <a:off x="1152727" y="2484622"/>
            <a:ext cx="16248511" cy="4759316"/>
          </a:xfrm>
          <a:prstGeom prst="rect">
            <a:avLst/>
          </a:prstGeom>
        </p:spPr>
        <p:txBody>
          <a:bodyPr wrap="square" lIns="0" tIns="0" rIns="0" bIns="0" rtlCol="0" anchor="t">
            <a:spAutoFit/>
          </a:bodyPr>
          <a:lstStyle/>
          <a:p>
            <a:pPr marL="518160" lvl="1" indent="-259080" algn="just">
              <a:lnSpc>
                <a:spcPts val="3359"/>
              </a:lnSpc>
              <a:buFont typeface="Arial"/>
              <a:buChar char="•"/>
            </a:pPr>
            <a:r>
              <a:rPr lang="en-US" sz="4400" b="1" dirty="0">
                <a:solidFill>
                  <a:srgbClr val="000000"/>
                </a:solidFill>
                <a:latin typeface="Times New Roman Bold"/>
                <a:ea typeface="Times New Roman Bold"/>
                <a:cs typeface="Times New Roman Bold"/>
                <a:sym typeface="Times New Roman Bold"/>
              </a:rPr>
              <a:t>The project focuses on common conditions and is not meant to replace expert diagnosis. </a:t>
            </a:r>
            <a:r>
              <a:rPr lang="en-US" sz="4400" b="1" dirty="0" err="1">
                <a:solidFill>
                  <a:srgbClr val="000000"/>
                </a:solidFill>
                <a:latin typeface="Times New Roman Bold"/>
                <a:ea typeface="Times New Roman Bold"/>
                <a:cs typeface="Times New Roman Bold"/>
                <a:sym typeface="Times New Roman Bold"/>
              </a:rPr>
              <a:t>Thus,in</a:t>
            </a:r>
            <a:r>
              <a:rPr lang="en-US" sz="4400" b="1" dirty="0">
                <a:solidFill>
                  <a:srgbClr val="000000"/>
                </a:solidFill>
                <a:latin typeface="Times New Roman Bold"/>
                <a:ea typeface="Times New Roman Bold"/>
                <a:cs typeface="Times New Roman Bold"/>
                <a:sym typeface="Times New Roman Bold"/>
              </a:rPr>
              <a:t> future we may improve detection and classification capacity of the models.</a:t>
            </a:r>
          </a:p>
          <a:p>
            <a:pPr marL="518160" lvl="1" indent="-259080" algn="just">
              <a:lnSpc>
                <a:spcPts val="3359"/>
              </a:lnSpc>
              <a:buFont typeface="Arial"/>
              <a:buChar char="•"/>
            </a:pPr>
            <a:endParaRPr lang="en-US" sz="4400" b="1" dirty="0">
              <a:solidFill>
                <a:srgbClr val="000000"/>
              </a:solidFill>
              <a:latin typeface="Times New Roman Bold"/>
              <a:ea typeface="Times New Roman Bold"/>
              <a:cs typeface="Times New Roman Bold"/>
              <a:sym typeface="Times New Roman Bold"/>
            </a:endParaRPr>
          </a:p>
          <a:p>
            <a:pPr marL="518160" lvl="1" indent="-259080" algn="just">
              <a:lnSpc>
                <a:spcPts val="3359"/>
              </a:lnSpc>
              <a:buFont typeface="Arial"/>
              <a:buChar char="•"/>
            </a:pPr>
            <a:r>
              <a:rPr lang="en-US" sz="4400" b="1" dirty="0">
                <a:solidFill>
                  <a:srgbClr val="000000"/>
                </a:solidFill>
                <a:latin typeface="Times New Roman Bold"/>
                <a:ea typeface="Times New Roman Bold"/>
                <a:cs typeface="Times New Roman Bold"/>
                <a:sym typeface="Times New Roman Bold"/>
              </a:rPr>
              <a:t>Further we can work to overcome challenges in detecting </a:t>
            </a:r>
            <a:r>
              <a:rPr lang="en-US" sz="4400" b="1" dirty="0" err="1">
                <a:solidFill>
                  <a:srgbClr val="000000"/>
                </a:solidFill>
                <a:latin typeface="Times New Roman Bold"/>
                <a:ea typeface="Times New Roman Bold"/>
                <a:cs typeface="Times New Roman Bold"/>
                <a:sym typeface="Times New Roman Bold"/>
              </a:rPr>
              <a:t>overlaping</a:t>
            </a:r>
            <a:r>
              <a:rPr lang="en-US" sz="4400" b="1" dirty="0">
                <a:solidFill>
                  <a:srgbClr val="000000"/>
                </a:solidFill>
                <a:latin typeface="Times New Roman Bold"/>
                <a:ea typeface="Times New Roman Bold"/>
                <a:cs typeface="Times New Roman Bold"/>
                <a:sym typeface="Times New Roman Bold"/>
              </a:rPr>
              <a:t> symptoms of certain diseases and deficiencies.</a:t>
            </a:r>
          </a:p>
          <a:p>
            <a:pPr marL="518160" lvl="1" indent="-259080" algn="just">
              <a:lnSpc>
                <a:spcPts val="3359"/>
              </a:lnSpc>
              <a:buFont typeface="Arial"/>
              <a:buChar char="•"/>
            </a:pPr>
            <a:endParaRPr lang="en-US" sz="4400" b="1" dirty="0">
              <a:solidFill>
                <a:srgbClr val="000000"/>
              </a:solidFill>
              <a:latin typeface="Times New Roman Bold"/>
              <a:ea typeface="Times New Roman Bold"/>
              <a:cs typeface="Times New Roman Bold"/>
              <a:sym typeface="Times New Roman Bold"/>
            </a:endParaRPr>
          </a:p>
          <a:p>
            <a:pPr marL="518160" lvl="1" indent="-259080" algn="just">
              <a:lnSpc>
                <a:spcPts val="3359"/>
              </a:lnSpc>
              <a:buFont typeface="Arial"/>
              <a:buChar char="•"/>
            </a:pPr>
            <a:r>
              <a:rPr lang="en-US" sz="4400" b="1" dirty="0">
                <a:solidFill>
                  <a:srgbClr val="000000"/>
                </a:solidFill>
                <a:latin typeface="Times New Roman Bold"/>
                <a:ea typeface="Times New Roman Bold"/>
                <a:cs typeface="Times New Roman Bold"/>
                <a:sym typeface="Times New Roman Bold"/>
              </a:rPr>
              <a:t>The model accuracy can be nurtured by use of high quality dataset and diversity as real world images may vary in lighting, background, or clarity effecting predictions.</a:t>
            </a:r>
          </a:p>
          <a:p>
            <a:pPr algn="just">
              <a:lnSpc>
                <a:spcPts val="3359"/>
              </a:lnSpc>
            </a:pPr>
            <a:endParaRPr lang="en-US" sz="2400" b="1" dirty="0">
              <a:solidFill>
                <a:srgbClr val="000000"/>
              </a:solidFill>
              <a:latin typeface="Times New Roman Bold"/>
              <a:ea typeface="Times New Roman Bold"/>
              <a:cs typeface="Times New Roman Bold"/>
              <a:sym typeface="Times New Roman Bold"/>
            </a:endParaRPr>
          </a:p>
        </p:txBody>
      </p:sp>
      <p:sp>
        <p:nvSpPr>
          <p:cNvPr id="4" name="AutoShape 4"/>
          <p:cNvSpPr/>
          <p:nvPr/>
        </p:nvSpPr>
        <p:spPr>
          <a:xfrm>
            <a:off x="766552" y="9296400"/>
            <a:ext cx="6492240" cy="0"/>
          </a:xfrm>
          <a:prstGeom prst="line">
            <a:avLst/>
          </a:prstGeom>
          <a:ln w="76200" cap="flat">
            <a:solidFill>
              <a:srgbClr val="0F4662"/>
            </a:solidFill>
            <a:prstDash val="solid"/>
            <a:headEnd type="none" w="sm" len="sm"/>
            <a:tailEnd type="none" w="sm" len="sm"/>
          </a:ln>
        </p:spPr>
        <p:txBody>
          <a:bodyPr/>
          <a:lstStyle/>
          <a:p>
            <a:endParaRPr lang="en-IN"/>
          </a:p>
        </p:txBody>
      </p:sp>
      <p:sp>
        <p:nvSpPr>
          <p:cNvPr id="5" name="Freeform 5"/>
          <p:cNvSpPr/>
          <p:nvPr/>
        </p:nvSpPr>
        <p:spPr>
          <a:xfrm>
            <a:off x="14432385" y="587083"/>
            <a:ext cx="2968854" cy="441617"/>
          </a:xfrm>
          <a:custGeom>
            <a:avLst/>
            <a:gdLst/>
            <a:ahLst/>
            <a:cxnLst/>
            <a:rect l="l" t="t" r="r" b="b"/>
            <a:pathLst>
              <a:path w="2968854" h="441617">
                <a:moveTo>
                  <a:pt x="0" y="0"/>
                </a:moveTo>
                <a:lnTo>
                  <a:pt x="2968854" y="0"/>
                </a:lnTo>
                <a:lnTo>
                  <a:pt x="2968854" y="441617"/>
                </a:lnTo>
                <a:lnTo>
                  <a:pt x="0" y="4416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1028700" y="561609"/>
            <a:ext cx="11534821" cy="988284"/>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000000"/>
                </a:solidFill>
                <a:latin typeface="Times New Roman Bold"/>
                <a:ea typeface="Times New Roman Bold"/>
                <a:cs typeface="Times New Roman Bold"/>
                <a:sym typeface="Times New Roman Bold"/>
              </a:rPr>
              <a:t>                              References</a:t>
            </a:r>
          </a:p>
        </p:txBody>
      </p:sp>
      <p:sp>
        <p:nvSpPr>
          <p:cNvPr id="3" name="TextBox 3"/>
          <p:cNvSpPr txBox="1"/>
          <p:nvPr/>
        </p:nvSpPr>
        <p:spPr>
          <a:xfrm>
            <a:off x="1028700" y="1911528"/>
            <a:ext cx="16106572" cy="7120890"/>
          </a:xfrm>
          <a:prstGeom prst="rect">
            <a:avLst/>
          </a:prstGeom>
        </p:spPr>
        <p:txBody>
          <a:bodyPr lIns="0" tIns="0" rIns="0" bIns="0" rtlCol="0" anchor="t">
            <a:spAutoFit/>
          </a:bodyPr>
          <a:lstStyle/>
          <a:p>
            <a:pPr marL="518160" lvl="1" indent="-259080" algn="just">
              <a:lnSpc>
                <a:spcPts val="3359"/>
              </a:lnSpc>
              <a:buFont typeface="Arial"/>
              <a:buChar char="•"/>
            </a:pPr>
            <a:r>
              <a:rPr lang="en-US" sz="2400" b="1">
                <a:solidFill>
                  <a:srgbClr val="000000"/>
                </a:solidFill>
                <a:latin typeface="Times New Roman Bold"/>
                <a:ea typeface="Times New Roman Bold"/>
                <a:cs typeface="Times New Roman Bold"/>
                <a:sym typeface="Times New Roman Bold"/>
              </a:rPr>
              <a:t>Piska, G., Janaskar, S., Chandgadkar, O., Bhawsar, P., &amp; Vishwakarma, P. P. (2025). Enhancing plant disease detection using machine learning approaches for improved agricultural productivity. International Journal of Electrical &amp; Computer Engineering (2088-8708), 15(2).</a:t>
            </a:r>
          </a:p>
          <a:p>
            <a:pPr marL="518160" lvl="1" indent="-259080" algn="just">
              <a:lnSpc>
                <a:spcPts val="3359"/>
              </a:lnSpc>
              <a:buFont typeface="Arial"/>
              <a:buChar char="•"/>
            </a:pPr>
            <a:r>
              <a:rPr lang="en-US" sz="2400" b="1">
                <a:solidFill>
                  <a:srgbClr val="000000"/>
                </a:solidFill>
                <a:latin typeface="Times New Roman Bold"/>
                <a:ea typeface="Times New Roman Bold"/>
                <a:cs typeface="Times New Roman Bold"/>
                <a:sym typeface="Times New Roman Bold"/>
              </a:rPr>
              <a:t>Ansari, A., Singh, S., &amp; Akhtar, D. N. (2025). Ai-driven crop disease detection and management in smart agriculture. International Journal of Scientific Research in Science and Technology (IJSRST), SSN, 2395-6011.</a:t>
            </a:r>
          </a:p>
          <a:p>
            <a:pPr marL="518160" lvl="1" indent="-259080" algn="just">
              <a:lnSpc>
                <a:spcPts val="3359"/>
              </a:lnSpc>
              <a:buFont typeface="Arial"/>
              <a:buChar char="•"/>
            </a:pPr>
            <a:r>
              <a:rPr lang="en-US" sz="2400" b="1">
                <a:solidFill>
                  <a:srgbClr val="000000"/>
                </a:solidFill>
                <a:latin typeface="Times New Roman Bold"/>
                <a:ea typeface="Times New Roman Bold"/>
                <a:cs typeface="Times New Roman Bold"/>
                <a:sym typeface="Times New Roman Bold"/>
              </a:rPr>
              <a:t>Nazir, A. (2022). AI-Driven Approaches to Enhance Plant Disease Detection and Monitoring: A Focus on Machine Learning in Agriculture. International Journal of Applied Sciences and Society Archives (IJASSA), 1(1), 9-15.</a:t>
            </a:r>
          </a:p>
          <a:p>
            <a:pPr marL="518160" lvl="1" indent="-259080" algn="just">
              <a:lnSpc>
                <a:spcPts val="3359"/>
              </a:lnSpc>
              <a:buFont typeface="Arial"/>
              <a:buChar char="•"/>
            </a:pPr>
            <a:r>
              <a:rPr lang="en-US" sz="2400" b="1">
                <a:solidFill>
                  <a:srgbClr val="000000"/>
                </a:solidFill>
                <a:latin typeface="Times New Roman Bold"/>
                <a:ea typeface="Times New Roman Bold"/>
                <a:cs typeface="Times New Roman Bold"/>
                <a:sym typeface="Times New Roman Bold"/>
              </a:rPr>
              <a:t>Serin, J., Jerith, G. G., Ebenezer, V., Jeyaraj, K. A., Jenefa, A., &amp; Vargheese, M. (2026). AI-Driven Smart Farming for Automated Plant Health Monitoring and Nutrient Deficiency Detection. ASEAN Journal of Scientific and Technological Reports, 29(1), e258175-e258175.</a:t>
            </a:r>
          </a:p>
          <a:p>
            <a:pPr marL="518160" lvl="1" indent="-259080" algn="just">
              <a:lnSpc>
                <a:spcPts val="3359"/>
              </a:lnSpc>
              <a:buFont typeface="Arial"/>
              <a:buChar char="•"/>
            </a:pPr>
            <a:r>
              <a:rPr lang="en-US" sz="2400" b="1">
                <a:solidFill>
                  <a:srgbClr val="000000"/>
                </a:solidFill>
                <a:latin typeface="Times New Roman Bold"/>
                <a:ea typeface="Times New Roman Bold"/>
                <a:cs typeface="Times New Roman Bold"/>
                <a:sym typeface="Times New Roman Bold"/>
              </a:rPr>
              <a:t>Ansari, A., Singh, S., &amp; Akhtar, D. N. (2025). Ai-driven crop disease detection and management in smart agriculture. International Journal of Scientific Research in Science and Technology (IJSRST), SSN, 2395-6011.</a:t>
            </a:r>
          </a:p>
          <a:p>
            <a:pPr marL="518160" lvl="1" indent="-259080" algn="just">
              <a:lnSpc>
                <a:spcPts val="3359"/>
              </a:lnSpc>
              <a:buFont typeface="Arial"/>
              <a:buChar char="•"/>
            </a:pPr>
            <a:r>
              <a:rPr lang="en-US" sz="2400" b="1">
                <a:solidFill>
                  <a:srgbClr val="000000"/>
                </a:solidFill>
                <a:latin typeface="Times New Roman Bold"/>
                <a:ea typeface="Times New Roman Bold"/>
                <a:cs typeface="Times New Roman Bold"/>
                <a:sym typeface="Times New Roman Bold"/>
              </a:rPr>
              <a:t>Ghosh, D., Siddique, M. A., &amp; Pal, D. (2024). AI-driven precision agriculture approach. AI in agriculture for sustainable and economic management, 6, 67.</a:t>
            </a:r>
          </a:p>
          <a:p>
            <a:pPr marL="518160" lvl="1" indent="-259080" algn="just">
              <a:lnSpc>
                <a:spcPts val="3359"/>
              </a:lnSpc>
              <a:buFont typeface="Arial"/>
              <a:buChar char="•"/>
            </a:pPr>
            <a:r>
              <a:rPr lang="en-US" sz="2400" b="1">
                <a:solidFill>
                  <a:srgbClr val="000000"/>
                </a:solidFill>
                <a:latin typeface="Times New Roman Bold"/>
                <a:ea typeface="Times New Roman Bold"/>
                <a:cs typeface="Times New Roman Bold"/>
                <a:sym typeface="Times New Roman Bold"/>
              </a:rPr>
              <a:t>Barathkumar, S., Sellamuthu, K. M., Sathyabama, K., Malathi, P., Kumaraperumal, R., &amp; Devagi, P. (2025). Advancements in soil quality assessment: A comprehensive review of machine learning and AI-driven approaches for nutrient deficiency analysis. Communications in Soil Science and Plant Analysis, 56(2), 251-276.</a:t>
            </a:r>
          </a:p>
        </p:txBody>
      </p:sp>
      <p:sp>
        <p:nvSpPr>
          <p:cNvPr id="4" name="Freeform 4"/>
          <p:cNvSpPr/>
          <p:nvPr/>
        </p:nvSpPr>
        <p:spPr>
          <a:xfrm>
            <a:off x="14432385" y="587083"/>
            <a:ext cx="2968854" cy="441617"/>
          </a:xfrm>
          <a:custGeom>
            <a:avLst/>
            <a:gdLst/>
            <a:ahLst/>
            <a:cxnLst/>
            <a:rect l="l" t="t" r="r" b="b"/>
            <a:pathLst>
              <a:path w="2968854" h="441617">
                <a:moveTo>
                  <a:pt x="0" y="0"/>
                </a:moveTo>
                <a:lnTo>
                  <a:pt x="2968854" y="0"/>
                </a:lnTo>
                <a:lnTo>
                  <a:pt x="2968854" y="441617"/>
                </a:lnTo>
                <a:lnTo>
                  <a:pt x="0" y="4416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BE5EA"/>
        </a:solidFill>
        <a:effectLst/>
      </p:bgPr>
    </p:bg>
    <p:spTree>
      <p:nvGrpSpPr>
        <p:cNvPr id="1" name=""/>
        <p:cNvGrpSpPr/>
        <p:nvPr/>
      </p:nvGrpSpPr>
      <p:grpSpPr>
        <a:xfrm>
          <a:off x="0" y="0"/>
          <a:ext cx="0" cy="0"/>
          <a:chOff x="0" y="0"/>
          <a:chExt cx="0" cy="0"/>
        </a:xfrm>
      </p:grpSpPr>
      <p:sp>
        <p:nvSpPr>
          <p:cNvPr id="2" name="TextBox 2"/>
          <p:cNvSpPr txBox="1"/>
          <p:nvPr/>
        </p:nvSpPr>
        <p:spPr>
          <a:xfrm>
            <a:off x="1028700" y="561609"/>
            <a:ext cx="11534821" cy="1066800"/>
          </a:xfrm>
          <a:prstGeom prst="rect">
            <a:avLst/>
          </a:prstGeom>
        </p:spPr>
        <p:txBody>
          <a:bodyPr lIns="0" tIns="0" rIns="0" bIns="0" rtlCol="0" anchor="t">
            <a:spAutoFit/>
          </a:bodyPr>
          <a:lstStyle/>
          <a:p>
            <a:pPr marL="0" lvl="0" indent="0" algn="l">
              <a:lnSpc>
                <a:spcPts val="8400"/>
              </a:lnSpc>
              <a:spcBef>
                <a:spcPct val="0"/>
              </a:spcBef>
            </a:pPr>
            <a:r>
              <a:rPr lang="en-US" sz="6000" b="1" dirty="0">
                <a:solidFill>
                  <a:srgbClr val="000000"/>
                </a:solidFill>
                <a:latin typeface="Times New Roman Bold"/>
                <a:ea typeface="Times New Roman Bold"/>
                <a:cs typeface="Times New Roman Bold"/>
                <a:sym typeface="Times New Roman Bold"/>
              </a:rPr>
              <a:t>Acknowledgement</a:t>
            </a:r>
          </a:p>
        </p:txBody>
      </p:sp>
      <p:sp>
        <p:nvSpPr>
          <p:cNvPr id="3" name="TextBox 3"/>
          <p:cNvSpPr txBox="1"/>
          <p:nvPr/>
        </p:nvSpPr>
        <p:spPr>
          <a:xfrm>
            <a:off x="1659105" y="3029143"/>
            <a:ext cx="16106572" cy="2712474"/>
          </a:xfrm>
          <a:prstGeom prst="rect">
            <a:avLst/>
          </a:prstGeom>
        </p:spPr>
        <p:txBody>
          <a:bodyPr lIns="0" tIns="0" rIns="0" bIns="0" rtlCol="0" anchor="t">
            <a:spAutoFit/>
          </a:bodyPr>
          <a:lstStyle/>
          <a:p>
            <a:pPr algn="ctr">
              <a:lnSpc>
                <a:spcPts val="4339"/>
              </a:lnSpc>
            </a:pPr>
            <a:r>
              <a:rPr lang="en-US" sz="3099" b="1" dirty="0">
                <a:solidFill>
                  <a:srgbClr val="000000"/>
                </a:solidFill>
                <a:latin typeface="Times New Roman Bold"/>
                <a:ea typeface="Times New Roman Bold"/>
                <a:cs typeface="Times New Roman Bold"/>
                <a:sym typeface="Times New Roman Bold"/>
              </a:rPr>
              <a:t>MANAGEMENT, DEPARTMENT OF MICROBIOLOGY &amp; DEPARTMENT OF MATHEMATICS AND STATISTICS</a:t>
            </a:r>
          </a:p>
          <a:p>
            <a:pPr algn="ctr">
              <a:lnSpc>
                <a:spcPts val="4339"/>
              </a:lnSpc>
            </a:pPr>
            <a:endParaRPr lang="en-US" sz="3099" b="1" dirty="0">
              <a:solidFill>
                <a:srgbClr val="000000"/>
              </a:solidFill>
              <a:latin typeface="Times New Roman Bold"/>
              <a:ea typeface="Times New Roman Bold"/>
              <a:cs typeface="Times New Roman Bold"/>
              <a:sym typeface="Times New Roman Bold"/>
            </a:endParaRPr>
          </a:p>
          <a:p>
            <a:pPr algn="ctr">
              <a:lnSpc>
                <a:spcPts val="4339"/>
              </a:lnSpc>
            </a:pPr>
            <a:r>
              <a:rPr lang="en-US" sz="3099" b="1" dirty="0">
                <a:solidFill>
                  <a:srgbClr val="000000"/>
                </a:solidFill>
                <a:latin typeface="Times New Roman Bold"/>
                <a:ea typeface="Times New Roman Bold"/>
                <a:cs typeface="Times New Roman Bold"/>
                <a:sym typeface="Times New Roman Bold"/>
              </a:rPr>
              <a:t>BHAVAN’S VIVEKANANDA COLLEGE OF SCIENCE, HUMANITIES &amp; COMMERCE, </a:t>
            </a:r>
          </a:p>
          <a:p>
            <a:pPr algn="ctr">
              <a:lnSpc>
                <a:spcPts val="4339"/>
              </a:lnSpc>
            </a:pPr>
            <a:r>
              <a:rPr lang="en-US" sz="3099" b="1" dirty="0">
                <a:solidFill>
                  <a:srgbClr val="000000"/>
                </a:solidFill>
                <a:latin typeface="Times New Roman Bold"/>
                <a:ea typeface="Times New Roman Bold"/>
                <a:cs typeface="Times New Roman Bold"/>
                <a:sym typeface="Times New Roman Bold"/>
              </a:rPr>
              <a:t>SAINIKPURI, SECUNDRABAD, 500094.</a:t>
            </a:r>
          </a:p>
        </p:txBody>
      </p:sp>
      <p:sp>
        <p:nvSpPr>
          <p:cNvPr id="5" name="Freeform 5"/>
          <p:cNvSpPr/>
          <p:nvPr/>
        </p:nvSpPr>
        <p:spPr>
          <a:xfrm>
            <a:off x="14432385" y="587083"/>
            <a:ext cx="2968854" cy="441617"/>
          </a:xfrm>
          <a:custGeom>
            <a:avLst/>
            <a:gdLst/>
            <a:ahLst/>
            <a:cxnLst/>
            <a:rect l="l" t="t" r="r" b="b"/>
            <a:pathLst>
              <a:path w="2968854" h="441617">
                <a:moveTo>
                  <a:pt x="0" y="0"/>
                </a:moveTo>
                <a:lnTo>
                  <a:pt x="2968854" y="0"/>
                </a:lnTo>
                <a:lnTo>
                  <a:pt x="2968854" y="441617"/>
                </a:lnTo>
                <a:lnTo>
                  <a:pt x="0" y="4416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AutoShape 6"/>
          <p:cNvSpPr/>
          <p:nvPr/>
        </p:nvSpPr>
        <p:spPr>
          <a:xfrm>
            <a:off x="766552" y="9296400"/>
            <a:ext cx="6492240" cy="0"/>
          </a:xfrm>
          <a:prstGeom prst="line">
            <a:avLst/>
          </a:prstGeom>
          <a:ln w="76200" cap="flat">
            <a:solidFill>
              <a:srgbClr val="0F4662"/>
            </a:solidFill>
            <a:prstDash val="solid"/>
            <a:headEnd type="none" w="sm" len="sm"/>
            <a:tailEnd type="none" w="sm" len="sm"/>
          </a:ln>
        </p:spPr>
        <p:txBody>
          <a:bodyPr/>
          <a:lstStyle/>
          <a:p>
            <a:endParaRPr lang="en-IN"/>
          </a:p>
        </p:txBody>
      </p:sp>
      <p:pic>
        <p:nvPicPr>
          <p:cNvPr id="8" name="Picture 7">
            <a:extLst>
              <a:ext uri="{FF2B5EF4-FFF2-40B4-BE49-F238E27FC236}">
                <a16:creationId xmlns:a16="http://schemas.microsoft.com/office/drawing/2014/main" id="{AF965097-A8E3-CC0B-6CFE-46AED19EB71C}"/>
              </a:ext>
            </a:extLst>
          </p:cNvPr>
          <p:cNvPicPr>
            <a:picLocks noChangeAspect="1"/>
          </p:cNvPicPr>
          <p:nvPr/>
        </p:nvPicPr>
        <p:blipFill>
          <a:blip r:embed="rId4"/>
          <a:stretch>
            <a:fillRect/>
          </a:stretch>
        </p:blipFill>
        <p:spPr>
          <a:xfrm>
            <a:off x="9712391" y="6210300"/>
            <a:ext cx="7391400" cy="273908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2323</Words>
  <Application>Microsoft Office PowerPoint</Application>
  <PresentationFormat>Custom</PresentationFormat>
  <Paragraphs>256</Paragraphs>
  <Slides>18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4" baseType="lpstr">
      <vt:lpstr>Calibri</vt:lpstr>
      <vt:lpstr>Arial</vt:lpstr>
      <vt:lpstr>Times New Roman Bold</vt:lpstr>
      <vt:lpstr>Times New Roman</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 SATYA TARUN SRIYAMSU, PANJA GOWTHAMI, SAYALI JADHAV, D. BHAVANI, Dr. PEDDI RAJINI AND Dr. S. CHAITANYA KUMARI</dc:title>
  <cp:lastModifiedBy>ChaitanyaKumari S</cp:lastModifiedBy>
  <cp:revision>21</cp:revision>
  <dcterms:created xsi:type="dcterms:W3CDTF">2006-08-16T00:00:00Z</dcterms:created>
  <dcterms:modified xsi:type="dcterms:W3CDTF">2026-02-26T05:49:30Z</dcterms:modified>
  <dc:identifier>DAHBdeWeQBw</dc:identifier>
</cp:coreProperties>
</file>